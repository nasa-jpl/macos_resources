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737360"/>
            <a:ext cx="10545775" cy="2926080"/>
          </a:xfrm>
          <a:prstGeom prst="rect">
            <a:avLst/>
          </a:prstGeom>
          <a:noFill/>
        </p:spPr>
        <p:txBody>
          <a:bodyPr wrap="square">
            <a:spAutoFit/>
          </a:bodyPr>
          <a:lstStyle/>
          <a:p>
            <a:pPr>
              <a:spcAft>
                <a:spcPts val="400"/>
              </a:spcAft>
            </a:pPr>
            <a:r>
              <a:rPr sz="4000" b="1">
                <a:solidFill>
                  <a:srgbClr val="1F4E79"/>
                </a:solidFill>
                <a:latin typeface="Arial"/>
              </a:rPr>
              <a:t>The Offset-Field Imager, Reproduced and Re-Designed</a:t>
            </a:r>
          </a:p>
          <a:p>
            <a:pPr>
              <a:spcAft>
                <a:spcPts val="1400"/>
              </a:spcAft>
            </a:pPr>
            <a:r>
              <a:rPr sz="2200" b="0">
                <a:solidFill>
                  <a:srgbClr val="282828"/>
                </a:solidFill>
                <a:latin typeface="Arial"/>
              </a:rPr>
              <a:t>MACOS design layer vs CODE V on a 22°-offset wide-field three-mirror imager</a:t>
            </a:r>
          </a:p>
          <a:p>
            <a:pPr>
              <a:spcAft>
                <a:spcPts val="800"/>
              </a:spcAft>
            </a:pPr>
            <a:r>
              <a:rPr sz="1500" b="0">
                <a:solidFill>
                  <a:srgbClr val="6E6E6E"/>
                </a:solidFill>
                <a:latin typeface="Arial"/>
              </a:rPr>
              <a:t>D. C. Redding with Claude Code — 20 August 2026.  Source study: M. Rodgers, 260802-WFOVimager_Offsetfield (CODE V) + five lens sequences (committed).  Reproduction: MACOS_resources mmacos/challenges/rodgers3 + templates/10_telescopes/offset_imager, with packet.</a:t>
            </a:r>
          </a:p>
        </p:txBody>
      </p:sp>
      <p:sp>
        <p:nvSpPr>
          <p:cNvPr id="3" name="TextBox 2"/>
          <p:cNvSpPr txBox="1"/>
          <p:nvPr/>
        </p:nvSpPr>
        <p:spPr>
          <a:xfrm>
            <a:off x="822960" y="5486400"/>
            <a:ext cx="10545775" cy="914400"/>
          </a:xfrm>
          <a:prstGeom prst="rect">
            <a:avLst/>
          </a:prstGeom>
          <a:noFill/>
        </p:spPr>
        <p:txBody>
          <a:bodyPr wrap="square">
            <a:spAutoFit/>
          </a:bodyPr>
          <a:lstStyle/>
          <a:p>
            <a:pPr>
              <a:spcAft>
                <a:spcPts val="400"/>
              </a:spcAft>
            </a:pPr>
            <a:r>
              <a:rPr sz="1300" b="0">
                <a:solidFill>
                  <a:srgbClr val="6E6E6E"/>
                </a:solidFill>
                <a:latin typeface="Arial"/>
              </a:rPr>
              <a:t>Every WFE number in this deck: strict RMS WFE, centroid reference on the stage's frozen focal plane, exit-pupil anchor, piston-only removal; quoted statistic = dense 11x11 map MAXIMUM over the field box — the statistic the source slides quote (decoded on slide 2).  DRAFT — pending sign-off.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1 — The challenge</a:t>
            </a:r>
          </a:p>
          <a:p>
            <a:pPr>
              <a:spcAft>
                <a:spcPts val="0"/>
              </a:spcAft>
            </a:pPr>
            <a:r>
              <a:rPr sz="1250" b="0">
                <a:solidFill>
                  <a:srgbClr val="6E6E6E"/>
                </a:solidFill>
                <a:latin typeface="Arial"/>
              </a:rPr>
              <a:t>A 20°x20° field box moved 22° off axis, an exit-beam pointing constraint, and hard clearances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system, from the lens sequences: three-mirror imager, EPD 75 mm, F/4 (EFL 300 mm), λ = 1 µm, field box 20°x20° full width centred at YAN +22°.  Constraints: exit beam horizontal (rung 2 on); beam/mirror clearances &gt; 50 mm and &gt; 35 mm (rung 4 on).  Optimization field: 9 points, XAN ±10°.</a:t>
            </a:r>
          </a:p>
          <a:p>
            <a:pPr>
              <a:spcAft>
                <a:spcPts val="600"/>
              </a:spcAft>
            </a:pPr>
            <a:r>
              <a:rPr sz="1200" b="0">
                <a:solidFill>
                  <a:srgbClr val="282828"/>
                </a:solidFill>
                <a:latin typeface="Arial"/>
              </a:rPr>
              <a:t>•  The source study climbs the five-rung ladder in the table — each rung one added freedom, each closed by a reported WFE.</a:t>
            </a:r>
          </a:p>
          <a:p>
            <a:pPr>
              <a:spcAft>
                <a:spcPts val="600"/>
              </a:spcAft>
            </a:pPr>
            <a:r>
              <a:rPr sz="1200" b="0">
                <a:solidFill>
                  <a:srgbClr val="282828"/>
                </a:solidFill>
                <a:latin typeface="Arial"/>
              </a:rPr>
              <a:t>•  The decoded statistic (Stage 0): each reported "RMS WFE ≤ x" equals the MAXIMUM of CODE V's dense RMS-vs-field map over the full box — established from the slides' own embedded plot metadata, not assumed.</a:t>
            </a:r>
          </a:p>
        </p:txBody>
      </p:sp>
      <p:graphicFrame>
        <p:nvGraphicFramePr>
          <p:cNvPr id="5" name="Table 4"/>
          <p:cNvGraphicFramePr>
            <a:graphicFrameLocks noGrp="1"/>
          </p:cNvGraphicFramePr>
          <p:nvPr/>
        </p:nvGraphicFramePr>
        <p:xfrm>
          <a:off x="411480" y="3538728"/>
          <a:ext cx="5806438" cy="1680210"/>
        </p:xfrm>
        <a:graphic>
          <a:graphicData uri="http://schemas.openxmlformats.org/drawingml/2006/table">
            <a:tbl>
              <a:tblPr firstRow="1" bandRow="1">
                <a:tableStyleId>{5C22544A-7EE6-4342-B048-85BDC9FD1C3A}</a:tableStyleId>
              </a:tblPr>
              <a:tblGrid>
                <a:gridCol w="464515"/>
                <a:gridCol w="4064507"/>
                <a:gridCol w="1277416"/>
              </a:tblGrid>
              <a:tr h="280035">
                <a:tc>
                  <a:txBody>
                    <a:bodyPr wrap="square"/>
                    <a:lstStyle/>
                    <a:p>
                      <a:r>
                        <a:rPr sz="1100" b="1">
                          <a:solidFill>
                            <a:srgbClr val="FFFFFF"/>
                          </a:solidFill>
                          <a:latin typeface="Arial"/>
                        </a:rPr>
                        <a:t>rung</a:t>
                      </a:r>
                    </a:p>
                  </a:txBody>
                  <a:tcPr marL="54864" marR="54864" marT="18288" marB="18288">
                    <a:solidFill>
                      <a:srgbClr val="1F4E79"/>
                    </a:solidFill>
                  </a:tcPr>
                </a:tc>
                <a:tc>
                  <a:txBody>
                    <a:bodyPr wrap="square"/>
                    <a:lstStyle/>
                    <a:p>
                      <a:r>
                        <a:rPr sz="1100" b="1">
                          <a:solidFill>
                            <a:srgbClr val="FFFFFF"/>
                          </a:solidFill>
                          <a:latin typeface="Arial"/>
                        </a:rPr>
                        <a:t>design state</a:t>
                      </a:r>
                    </a:p>
                  </a:txBody>
                  <a:tcPr marL="54864" marR="54864" marT="18288" marB="18288">
                    <a:solidFill>
                      <a:srgbClr val="1F4E79"/>
                    </a:solidFill>
                  </a:tcPr>
                </a:tc>
                <a:tc>
                  <a:txBody>
                    <a:bodyPr wrap="square"/>
                    <a:lstStyle/>
                    <a:p>
                      <a:r>
                        <a:rPr sz="1100" b="1">
                          <a:solidFill>
                            <a:srgbClr val="FFFFFF"/>
                          </a:solidFill>
                          <a:latin typeface="Arial"/>
                        </a:rPr>
                        <a:t>reported nm</a:t>
                      </a:r>
                    </a:p>
                  </a:txBody>
                  <a:tcPr marL="54864" marR="54864" marT="18288" marB="18288">
                    <a:solidFill>
                      <a:srgbClr val="1F4E79"/>
                    </a:solidFill>
                  </a:tcPr>
                </a:tc>
              </a:tr>
              <a:tr h="280035">
                <a:tc>
                  <a:txBody>
                    <a:bodyPr wrap="square"/>
                    <a:lstStyle/>
                    <a:p>
                      <a:r>
                        <a:rPr sz="1100" b="0">
                          <a:solidFill>
                            <a:srgbClr val="282828"/>
                          </a:solidFill>
                          <a:latin typeface="Arial"/>
                        </a:rPr>
                        <a:t>r1</a:t>
                      </a:r>
                    </a:p>
                  </a:txBody>
                  <a:tcPr marL="54864" marR="54864" marT="18288" marB="18288">
                    <a:solidFill>
                      <a:srgbClr val="FFFFFF"/>
                    </a:solidFill>
                  </a:tcPr>
                </a:tc>
                <a:tc>
                  <a:txBody>
                    <a:bodyPr wrap="square"/>
                    <a:lstStyle/>
                    <a:p>
                      <a:r>
                        <a:rPr sz="1100" b="0">
                          <a:solidFill>
                            <a:srgbClr val="282828"/>
                          </a:solidFill>
                          <a:latin typeface="Arial"/>
                        </a:rPr>
                        <a:t>coaxial, on-axis box, aspheres</a:t>
                      </a:r>
                    </a:p>
                  </a:txBody>
                  <a:tcPr marL="54864" marR="54864" marT="18288" marB="18288">
                    <a:solidFill>
                      <a:srgbClr val="FFFFFF"/>
                    </a:solidFill>
                  </a:tcPr>
                </a:tc>
                <a:tc>
                  <a:txBody>
                    <a:bodyPr wrap="square"/>
                    <a:lstStyle/>
                    <a:p>
                      <a:r>
                        <a:rPr sz="1100" b="0">
                          <a:solidFill>
                            <a:srgbClr val="282828"/>
                          </a:solidFill>
                          <a:latin typeface="Arial"/>
                        </a:rPr>
                        <a:t>159</a:t>
                      </a:r>
                    </a:p>
                  </a:txBody>
                  <a:tcPr marL="54864" marR="54864" marT="18288" marB="18288">
                    <a:solidFill>
                      <a:srgbClr val="FFFFFF"/>
                    </a:solidFill>
                  </a:tcPr>
                </a:tc>
              </a:tr>
              <a:tr h="280035">
                <a:tc>
                  <a:txBody>
                    <a:bodyPr wrap="square"/>
                    <a:lstStyle/>
                    <a:p>
                      <a:r>
                        <a:rPr sz="1100" b="0">
                          <a:solidFill>
                            <a:srgbClr val="282828"/>
                          </a:solidFill>
                          <a:latin typeface="Arial"/>
                        </a:rPr>
                        <a:t>r2</a:t>
                      </a:r>
                    </a:p>
                  </a:txBody>
                  <a:tcPr marL="54864" marR="54864" marT="18288" marB="18288">
                    <a:solidFill>
                      <a:srgbClr val="ECF1F6"/>
                    </a:solidFill>
                  </a:tcPr>
                </a:tc>
                <a:tc>
                  <a:txBody>
                    <a:bodyPr wrap="square"/>
                    <a:lstStyle/>
                    <a:p>
                      <a:r>
                        <a:rPr sz="1100" b="0">
                          <a:solidFill>
                            <a:srgbClr val="282828"/>
                          </a:solidFill>
                          <a:latin typeface="Arial"/>
                        </a:rPr>
                        <a:t>same mirrors, offset box, FPA refit</a:t>
                      </a:r>
                    </a:p>
                  </a:txBody>
                  <a:tcPr marL="54864" marR="54864" marT="18288" marB="18288">
                    <a:solidFill>
                      <a:srgbClr val="ECF1F6"/>
                    </a:solidFill>
                  </a:tcPr>
                </a:tc>
                <a:tc>
                  <a:txBody>
                    <a:bodyPr wrap="square"/>
                    <a:lstStyle/>
                    <a:p>
                      <a:r>
                        <a:rPr sz="1100" b="0">
                          <a:solidFill>
                            <a:srgbClr val="282828"/>
                          </a:solidFill>
                          <a:latin typeface="Arial"/>
                        </a:rPr>
                        <a:t>8810</a:t>
                      </a:r>
                    </a:p>
                  </a:txBody>
                  <a:tcPr marL="54864" marR="54864" marT="18288" marB="18288">
                    <a:solidFill>
                      <a:srgbClr val="ECF1F6"/>
                    </a:solidFill>
                  </a:tcPr>
                </a:tc>
              </a:tr>
              <a:tr h="280035">
                <a:tc>
                  <a:txBody>
                    <a:bodyPr wrap="square"/>
                    <a:lstStyle/>
                    <a:p>
                      <a:r>
                        <a:rPr sz="1100" b="0">
                          <a:solidFill>
                            <a:srgbClr val="282828"/>
                          </a:solidFill>
                          <a:latin typeface="Arial"/>
                        </a:rPr>
                        <a:t>r3</a:t>
                      </a:r>
                    </a:p>
                  </a:txBody>
                  <a:tcPr marL="54864" marR="54864" marT="18288" marB="18288">
                    <a:solidFill>
                      <a:srgbClr val="FFFFFF"/>
                    </a:solidFill>
                  </a:tcPr>
                </a:tc>
                <a:tc>
                  <a:txBody>
                    <a:bodyPr wrap="square"/>
                    <a:lstStyle/>
                    <a:p>
                      <a:r>
                        <a:rPr sz="1100" b="0">
                          <a:solidFill>
                            <a:srgbClr val="282828"/>
                          </a:solidFill>
                          <a:latin typeface="Arial"/>
                        </a:rPr>
                        <a:t>re-asphered at the offset</a:t>
                      </a:r>
                    </a:p>
                  </a:txBody>
                  <a:tcPr marL="54864" marR="54864" marT="18288" marB="18288">
                    <a:solidFill>
                      <a:srgbClr val="FFFFFF"/>
                    </a:solidFill>
                  </a:tcPr>
                </a:tc>
                <a:tc>
                  <a:txBody>
                    <a:bodyPr wrap="square"/>
                    <a:lstStyle/>
                    <a:p>
                      <a:r>
                        <a:rPr sz="1100" b="0">
                          <a:solidFill>
                            <a:srgbClr val="282828"/>
                          </a:solidFill>
                          <a:latin typeface="Arial"/>
                        </a:rPr>
                        <a:t>168</a:t>
                      </a:r>
                    </a:p>
                  </a:txBody>
                  <a:tcPr marL="54864" marR="54864" marT="18288" marB="18288">
                    <a:solidFill>
                      <a:srgbClr val="FFFFFF"/>
                    </a:solidFill>
                  </a:tcPr>
                </a:tc>
              </a:tr>
              <a:tr h="280035">
                <a:tc>
                  <a:txBody>
                    <a:bodyPr wrap="square"/>
                    <a:lstStyle/>
                    <a:p>
                      <a:r>
                        <a:rPr sz="1100" b="0">
                          <a:solidFill>
                            <a:srgbClr val="282828"/>
                          </a:solidFill>
                          <a:latin typeface="Arial"/>
                        </a:rPr>
                        <a:t>r4</a:t>
                      </a:r>
                    </a:p>
                  </a:txBody>
                  <a:tcPr marL="54864" marR="54864" marT="18288" marB="18288">
                    <a:solidFill>
                      <a:srgbClr val="ECF1F6"/>
                    </a:solidFill>
                  </a:tcPr>
                </a:tc>
                <a:tc>
                  <a:txBody>
                    <a:bodyPr wrap="square"/>
                    <a:lstStyle/>
                    <a:p>
                      <a:r>
                        <a:rPr sz="1100" b="0">
                          <a:solidFill>
                            <a:srgbClr val="282828"/>
                          </a:solidFill>
                          <a:latin typeface="Arial"/>
                        </a:rPr>
                        <a:t>+ tilt/decenter + radii</a:t>
                      </a:r>
                    </a:p>
                  </a:txBody>
                  <a:tcPr marL="54864" marR="54864" marT="18288" marB="18288">
                    <a:solidFill>
                      <a:srgbClr val="ECF1F6"/>
                    </a:solidFill>
                  </a:tcPr>
                </a:tc>
                <a:tc>
                  <a:txBody>
                    <a:bodyPr wrap="square"/>
                    <a:lstStyle/>
                    <a:p>
                      <a:r>
                        <a:rPr sz="1100" b="0">
                          <a:solidFill>
                            <a:srgbClr val="282828"/>
                          </a:solidFill>
                          <a:latin typeface="Arial"/>
                        </a:rPr>
                        <a:t>117</a:t>
                      </a:r>
                    </a:p>
                  </a:txBody>
                  <a:tcPr marL="54864" marR="54864" marT="18288" marB="18288">
                    <a:solidFill>
                      <a:srgbClr val="ECF1F6"/>
                    </a:solidFill>
                  </a:tcPr>
                </a:tc>
              </a:tr>
              <a:tr h="280035">
                <a:tc>
                  <a:txBody>
                    <a:bodyPr wrap="square"/>
                    <a:lstStyle/>
                    <a:p>
                      <a:r>
                        <a:rPr sz="1100" b="0">
                          <a:solidFill>
                            <a:srgbClr val="282828"/>
                          </a:solidFill>
                          <a:latin typeface="Arial"/>
                        </a:rPr>
                        <a:t>r5</a:t>
                      </a:r>
                    </a:p>
                  </a:txBody>
                  <a:tcPr marL="54864" marR="54864" marT="18288" marB="18288">
                    <a:solidFill>
                      <a:srgbClr val="FFFFFF"/>
                    </a:solidFill>
                  </a:tcPr>
                </a:tc>
                <a:tc>
                  <a:txBody>
                    <a:bodyPr wrap="square"/>
                    <a:lstStyle/>
                    <a:p>
                      <a:r>
                        <a:rPr sz="1100" b="0">
                          <a:solidFill>
                            <a:srgbClr val="282828"/>
                          </a:solidFill>
                          <a:latin typeface="Arial"/>
                        </a:rPr>
                        <a:t>+ 8th-order Zernike + radii</a:t>
                      </a:r>
                    </a:p>
                  </a:txBody>
                  <a:tcPr marL="54864" marR="54864" marT="18288" marB="18288">
                    <a:solidFill>
                      <a:srgbClr val="FFFFFF"/>
                    </a:solidFill>
                  </a:tcPr>
                </a:tc>
                <a:tc>
                  <a:txBody>
                    <a:bodyPr wrap="square"/>
                    <a:lstStyle/>
                    <a:p>
                      <a:r>
                        <a:rPr sz="1100" b="0">
                          <a:solidFill>
                            <a:srgbClr val="282828"/>
                          </a:solidFill>
                          <a:latin typeface="Arial"/>
                        </a:rPr>
                        <a:t>53</a:t>
                      </a:r>
                    </a:p>
                  </a:txBody>
                  <a:tcPr marL="54864" marR="54864" marT="18288" marB="18288">
                    <a:solidFill>
                      <a:srgbClr val="FFFFFF"/>
                    </a:solidFill>
                  </a:tcPr>
                </a:tc>
              </a:tr>
            </a:tbl>
          </a:graphicData>
        </a:graphic>
      </p:graphicFrame>
      <p:pic>
        <p:nvPicPr>
          <p:cNvPr id="6" name="Picture 5" descr="r3t_s1_layout.png"/>
          <p:cNvPicPr>
            <a:picLocks noChangeAspect="1"/>
          </p:cNvPicPr>
          <p:nvPr/>
        </p:nvPicPr>
        <p:blipFill>
          <a:blip r:embed="rId2"/>
          <a:stretch>
            <a:fillRect/>
          </a:stretch>
        </p:blipFill>
        <p:spPr>
          <a:xfrm>
            <a:off x="6885413" y="1298448"/>
            <a:ext cx="4425733" cy="3812032"/>
          </a:xfrm>
          <a:prstGeom prst="rect">
            <a:avLst/>
          </a:prstGeom>
        </p:spPr>
      </p:pic>
      <p:sp>
        <p:nvSpPr>
          <p:cNvPr id="7" name="TextBox 6"/>
          <p:cNvSpPr txBox="1"/>
          <p:nvPr/>
        </p:nvSpPr>
        <p:spPr>
          <a:xfrm>
            <a:off x="6400800" y="5128767"/>
            <a:ext cx="5394960" cy="394208"/>
          </a:xfrm>
          <a:prstGeom prst="rect">
            <a:avLst/>
          </a:prstGeom>
          <a:noFill/>
        </p:spPr>
        <p:txBody>
          <a:bodyPr wrap="square">
            <a:spAutoFit/>
          </a:bodyPr>
          <a:lstStyle/>
          <a:p>
            <a:pPr algn="ctr">
              <a:spcAft>
                <a:spcPts val="0"/>
              </a:spcAft>
            </a:pPr>
            <a:r>
              <a:rPr sz="1000" b="0">
                <a:solidFill>
                  <a:srgbClr val="6E6E6E"/>
                </a:solidFill>
                <a:latin typeface="Arial"/>
              </a:rPr>
              <a:t>The configuration class, traced by MACOS: the coaxial stage of the reproduction, real rays.</a:t>
            </a:r>
          </a:p>
        </p:txBody>
      </p:sp>
      <p:sp>
        <p:nvSpPr>
          <p:cNvPr id="8" name="TextBox 7"/>
          <p:cNvSpPr txBox="1"/>
          <p:nvPr/>
        </p:nvSpPr>
        <p:spPr>
          <a:xfrm>
            <a:off x="6400800" y="5559552"/>
            <a:ext cx="5394960" cy="274320"/>
          </a:xfrm>
          <a:prstGeom prst="rect">
            <a:avLst/>
          </a:prstGeom>
          <a:noFill/>
        </p:spPr>
        <p:txBody>
          <a:bodyPr wrap="square">
            <a:spAutoFit/>
          </a:bodyPr>
          <a:lstStyle/>
          <a:p>
            <a:pPr>
              <a:spcAft>
                <a:spcPts val="600"/>
              </a:spcAft>
            </a:pPr>
            <a:r>
              <a:rPr sz="1050" b="0">
                <a:solidFill>
                  <a:srgbClr val="6E6E6E"/>
                </a:solidFill>
                <a:latin typeface="Arial"/>
              </a:rPr>
              <a:t>Reported nm values are quoted from the source slides; their statistic — the dense-map maximum — is decoded and gated on 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2 — Stage 0: earn the right to compare</a:t>
            </a:r>
          </a:p>
          <a:p>
            <a:pPr>
              <a:spcAft>
                <a:spcPts val="0"/>
              </a:spcAft>
            </a:pPr>
            <a:r>
              <a:rPr sz="1250" b="0">
                <a:solidFill>
                  <a:srgbClr val="6E6E6E"/>
                </a:solidFill>
                <a:latin typeface="Arial"/>
              </a:rPr>
              <a:t>All five reported rungs reproduce from the lens sequences inside [0.8, 1.25]x — nothing tuned toward them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1680210"/>
        </p:xfrm>
        <a:graphic>
          <a:graphicData uri="http://schemas.openxmlformats.org/drawingml/2006/table">
            <a:tbl>
              <a:tblPr firstRow="1" bandRow="1">
                <a:tableStyleId>{5C22544A-7EE6-4342-B048-85BDC9FD1C3A}</a:tableStyleId>
              </a:tblPr>
              <a:tblGrid>
                <a:gridCol w="516128"/>
                <a:gridCol w="1419352"/>
                <a:gridCol w="2322576"/>
                <a:gridCol w="645159"/>
                <a:gridCol w="903224"/>
              </a:tblGrid>
              <a:tr h="280035">
                <a:tc>
                  <a:txBody>
                    <a:bodyPr wrap="square"/>
                    <a:lstStyle/>
                    <a:p>
                      <a:r>
                        <a:rPr sz="1100" b="1">
                          <a:solidFill>
                            <a:srgbClr val="FFFFFF"/>
                          </a:solidFill>
                          <a:latin typeface="Arial"/>
                        </a:rPr>
                        <a:t>rung</a:t>
                      </a:r>
                    </a:p>
                  </a:txBody>
                  <a:tcPr marL="54864" marR="54864" marT="18288" marB="18288">
                    <a:solidFill>
                      <a:srgbClr val="1F4E79"/>
                    </a:solidFill>
                  </a:tcPr>
                </a:tc>
                <a:tc>
                  <a:txBody>
                    <a:bodyPr wrap="square"/>
                    <a:lstStyle/>
                    <a:p>
                      <a:r>
                        <a:rPr sz="1100" b="1">
                          <a:solidFill>
                            <a:srgbClr val="FFFFFF"/>
                          </a:solidFill>
                          <a:latin typeface="Arial"/>
                        </a:rPr>
                        <a:t>reported nm</a:t>
                      </a:r>
                    </a:p>
                  </a:txBody>
                  <a:tcPr marL="54864" marR="54864" marT="18288" marB="18288">
                    <a:solidFill>
                      <a:srgbClr val="1F4E79"/>
                    </a:solidFill>
                  </a:tcPr>
                </a:tc>
                <a:tc>
                  <a:txBody>
                    <a:bodyPr wrap="square"/>
                    <a:lstStyle/>
                    <a:p>
                      <a:r>
                        <a:rPr sz="1100" b="1">
                          <a:solidFill>
                            <a:srgbClr val="FFFFFF"/>
                          </a:solidFill>
                          <a:latin typeface="Arial"/>
                        </a:rPr>
                        <a:t>reproduced map max</a:t>
                      </a:r>
                    </a:p>
                  </a:txBody>
                  <a:tcPr marL="54864" marR="54864" marT="18288" marB="18288">
                    <a:solidFill>
                      <a:srgbClr val="1F4E79"/>
                    </a:solidFill>
                  </a:tcPr>
                </a:tc>
                <a:tc>
                  <a:txBody>
                    <a:bodyPr wrap="square"/>
                    <a:lstStyle/>
                    <a:p>
                      <a:r>
                        <a:rPr sz="1100" b="1">
                          <a:solidFill>
                            <a:srgbClr val="FFFFFF"/>
                          </a:solidFill>
                          <a:latin typeface="Arial"/>
                        </a:rPr>
                        <a:t>ratio</a:t>
                      </a:r>
                    </a:p>
                  </a:txBody>
                  <a:tcPr marL="54864" marR="54864" marT="18288" marB="18288">
                    <a:solidFill>
                      <a:srgbClr val="1F4E79"/>
                    </a:solidFill>
                  </a:tcPr>
                </a:tc>
                <a:tc>
                  <a:txBody>
                    <a:bodyPr wrap="square"/>
                    <a:lstStyle/>
                    <a:p>
                      <a:r>
                        <a:rPr sz="1100" b="1">
                          <a:solidFill>
                            <a:srgbClr val="FFFFFF"/>
                          </a:solidFill>
                          <a:latin typeface="Arial"/>
                        </a:rPr>
                        <a:t>verdict</a:t>
                      </a:r>
                    </a:p>
                  </a:txBody>
                  <a:tcPr marL="54864" marR="54864" marT="18288" marB="18288">
                    <a:solidFill>
                      <a:srgbClr val="1F4E79"/>
                    </a:solidFill>
                  </a:tcPr>
                </a:tc>
              </a:tr>
              <a:tr h="280035">
                <a:tc>
                  <a:txBody>
                    <a:bodyPr wrap="square"/>
                    <a:lstStyle/>
                    <a:p>
                      <a:r>
                        <a:rPr sz="1100" b="0">
                          <a:solidFill>
                            <a:srgbClr val="282828"/>
                          </a:solidFill>
                          <a:latin typeface="Arial"/>
                        </a:rPr>
                        <a:t>r1</a:t>
                      </a:r>
                    </a:p>
                  </a:txBody>
                  <a:tcPr marL="54864" marR="54864" marT="18288" marB="18288">
                    <a:solidFill>
                      <a:srgbClr val="FFFFFF"/>
                    </a:solidFill>
                  </a:tcPr>
                </a:tc>
                <a:tc>
                  <a:txBody>
                    <a:bodyPr wrap="square"/>
                    <a:lstStyle/>
                    <a:p>
                      <a:r>
                        <a:rPr sz="1100" b="0">
                          <a:solidFill>
                            <a:srgbClr val="282828"/>
                          </a:solidFill>
                          <a:latin typeface="Arial"/>
                        </a:rPr>
                        <a:t>159</a:t>
                      </a:r>
                    </a:p>
                  </a:txBody>
                  <a:tcPr marL="54864" marR="54864" marT="18288" marB="18288">
                    <a:solidFill>
                      <a:srgbClr val="FFFFFF"/>
                    </a:solidFill>
                  </a:tcPr>
                </a:tc>
                <a:tc>
                  <a:txBody>
                    <a:bodyPr wrap="square"/>
                    <a:lstStyle/>
                    <a:p>
                      <a:r>
                        <a:rPr sz="1100" b="0">
                          <a:solidFill>
                            <a:srgbClr val="282828"/>
                          </a:solidFill>
                          <a:latin typeface="Arial"/>
                        </a:rPr>
                        <a:t>157.74</a:t>
                      </a:r>
                    </a:p>
                  </a:txBody>
                  <a:tcPr marL="54864" marR="54864" marT="18288" marB="18288">
                    <a:solidFill>
                      <a:srgbClr val="FFFFFF"/>
                    </a:solidFill>
                  </a:tcPr>
                </a:tc>
                <a:tc>
                  <a:txBody>
                    <a:bodyPr wrap="square"/>
                    <a:lstStyle/>
                    <a:p>
                      <a:r>
                        <a:rPr sz="1100" b="0">
                          <a:solidFill>
                            <a:srgbClr val="282828"/>
                          </a:solidFill>
                          <a:latin typeface="Arial"/>
                        </a:rPr>
                        <a:t>0.992</a:t>
                      </a:r>
                    </a:p>
                  </a:txBody>
                  <a:tcPr marL="54864" marR="54864" marT="18288" marB="18288">
                    <a:solidFill>
                      <a:srgbClr val="FFFFFF"/>
                    </a:solidFill>
                  </a:tcPr>
                </a:tc>
                <a:tc>
                  <a:txBody>
                    <a:bodyPr wrap="square"/>
                    <a:lstStyle/>
                    <a:p>
                      <a:r>
                        <a:rPr sz="1100" b="0">
                          <a:solidFill>
                            <a:srgbClr val="282828"/>
                          </a:solidFill>
                          <a:latin typeface="Arial"/>
                        </a:rPr>
                        <a:t>PASS</a:t>
                      </a:r>
                    </a:p>
                  </a:txBody>
                  <a:tcPr marL="54864" marR="54864" marT="18288" marB="18288">
                    <a:solidFill>
                      <a:srgbClr val="FFFFFF"/>
                    </a:solidFill>
                  </a:tcPr>
                </a:tc>
              </a:tr>
              <a:tr h="280035">
                <a:tc>
                  <a:txBody>
                    <a:bodyPr wrap="square"/>
                    <a:lstStyle/>
                    <a:p>
                      <a:r>
                        <a:rPr sz="1100" b="0">
                          <a:solidFill>
                            <a:srgbClr val="282828"/>
                          </a:solidFill>
                          <a:latin typeface="Arial"/>
                        </a:rPr>
                        <a:t>r2</a:t>
                      </a:r>
                    </a:p>
                  </a:txBody>
                  <a:tcPr marL="54864" marR="54864" marT="18288" marB="18288">
                    <a:solidFill>
                      <a:srgbClr val="ECF1F6"/>
                    </a:solidFill>
                  </a:tcPr>
                </a:tc>
                <a:tc>
                  <a:txBody>
                    <a:bodyPr wrap="square"/>
                    <a:lstStyle/>
                    <a:p>
                      <a:r>
                        <a:rPr sz="1100" b="0">
                          <a:solidFill>
                            <a:srgbClr val="282828"/>
                          </a:solidFill>
                          <a:latin typeface="Arial"/>
                        </a:rPr>
                        <a:t>8810</a:t>
                      </a:r>
                    </a:p>
                  </a:txBody>
                  <a:tcPr marL="54864" marR="54864" marT="18288" marB="18288">
                    <a:solidFill>
                      <a:srgbClr val="ECF1F6"/>
                    </a:solidFill>
                  </a:tcPr>
                </a:tc>
                <a:tc>
                  <a:txBody>
                    <a:bodyPr wrap="square"/>
                    <a:lstStyle/>
                    <a:p>
                      <a:r>
                        <a:rPr sz="1100" b="0">
                          <a:solidFill>
                            <a:srgbClr val="282828"/>
                          </a:solidFill>
                          <a:latin typeface="Arial"/>
                        </a:rPr>
                        <a:t>9664.11</a:t>
                      </a:r>
                    </a:p>
                  </a:txBody>
                  <a:tcPr marL="54864" marR="54864" marT="18288" marB="18288">
                    <a:solidFill>
                      <a:srgbClr val="ECF1F6"/>
                    </a:solidFill>
                  </a:tcPr>
                </a:tc>
                <a:tc>
                  <a:txBody>
                    <a:bodyPr wrap="square"/>
                    <a:lstStyle/>
                    <a:p>
                      <a:r>
                        <a:rPr sz="1100" b="0">
                          <a:solidFill>
                            <a:srgbClr val="282828"/>
                          </a:solidFill>
                          <a:latin typeface="Arial"/>
                        </a:rPr>
                        <a:t>1.097</a:t>
                      </a:r>
                    </a:p>
                  </a:txBody>
                  <a:tcPr marL="54864" marR="54864" marT="18288" marB="18288">
                    <a:solidFill>
                      <a:srgbClr val="ECF1F6"/>
                    </a:solidFill>
                  </a:tcPr>
                </a:tc>
                <a:tc>
                  <a:txBody>
                    <a:bodyPr wrap="square"/>
                    <a:lstStyle/>
                    <a:p>
                      <a:r>
                        <a:rPr sz="1100" b="0">
                          <a:solidFill>
                            <a:srgbClr val="282828"/>
                          </a:solidFill>
                          <a:latin typeface="Arial"/>
                        </a:rPr>
                        <a:t>PASS</a:t>
                      </a:r>
                    </a:p>
                  </a:txBody>
                  <a:tcPr marL="54864" marR="54864" marT="18288" marB="18288">
                    <a:solidFill>
                      <a:srgbClr val="ECF1F6"/>
                    </a:solidFill>
                  </a:tcPr>
                </a:tc>
              </a:tr>
              <a:tr h="280035">
                <a:tc>
                  <a:txBody>
                    <a:bodyPr wrap="square"/>
                    <a:lstStyle/>
                    <a:p>
                      <a:r>
                        <a:rPr sz="1100" b="0">
                          <a:solidFill>
                            <a:srgbClr val="282828"/>
                          </a:solidFill>
                          <a:latin typeface="Arial"/>
                        </a:rPr>
                        <a:t>r3</a:t>
                      </a:r>
                    </a:p>
                  </a:txBody>
                  <a:tcPr marL="54864" marR="54864" marT="18288" marB="18288">
                    <a:solidFill>
                      <a:srgbClr val="FFFFFF"/>
                    </a:solidFill>
                  </a:tcPr>
                </a:tc>
                <a:tc>
                  <a:txBody>
                    <a:bodyPr wrap="square"/>
                    <a:lstStyle/>
                    <a:p>
                      <a:r>
                        <a:rPr sz="1100" b="0">
                          <a:solidFill>
                            <a:srgbClr val="282828"/>
                          </a:solidFill>
                          <a:latin typeface="Arial"/>
                        </a:rPr>
                        <a:t>168</a:t>
                      </a:r>
                    </a:p>
                  </a:txBody>
                  <a:tcPr marL="54864" marR="54864" marT="18288" marB="18288">
                    <a:solidFill>
                      <a:srgbClr val="FFFFFF"/>
                    </a:solidFill>
                  </a:tcPr>
                </a:tc>
                <a:tc>
                  <a:txBody>
                    <a:bodyPr wrap="square"/>
                    <a:lstStyle/>
                    <a:p>
                      <a:r>
                        <a:rPr sz="1100" b="0">
                          <a:solidFill>
                            <a:srgbClr val="282828"/>
                          </a:solidFill>
                          <a:latin typeface="Arial"/>
                        </a:rPr>
                        <a:t>166.32</a:t>
                      </a:r>
                    </a:p>
                  </a:txBody>
                  <a:tcPr marL="54864" marR="54864" marT="18288" marB="18288">
                    <a:solidFill>
                      <a:srgbClr val="FFFFFF"/>
                    </a:solidFill>
                  </a:tcPr>
                </a:tc>
                <a:tc>
                  <a:txBody>
                    <a:bodyPr wrap="square"/>
                    <a:lstStyle/>
                    <a:p>
                      <a:r>
                        <a:rPr sz="1100" b="0">
                          <a:solidFill>
                            <a:srgbClr val="282828"/>
                          </a:solidFill>
                          <a:latin typeface="Arial"/>
                        </a:rPr>
                        <a:t>0.990</a:t>
                      </a:r>
                    </a:p>
                  </a:txBody>
                  <a:tcPr marL="54864" marR="54864" marT="18288" marB="18288">
                    <a:solidFill>
                      <a:srgbClr val="FFFFFF"/>
                    </a:solidFill>
                  </a:tcPr>
                </a:tc>
                <a:tc>
                  <a:txBody>
                    <a:bodyPr wrap="square"/>
                    <a:lstStyle/>
                    <a:p>
                      <a:r>
                        <a:rPr sz="1100" b="0">
                          <a:solidFill>
                            <a:srgbClr val="282828"/>
                          </a:solidFill>
                          <a:latin typeface="Arial"/>
                        </a:rPr>
                        <a:t>PASS</a:t>
                      </a:r>
                    </a:p>
                  </a:txBody>
                  <a:tcPr marL="54864" marR="54864" marT="18288" marB="18288">
                    <a:solidFill>
                      <a:srgbClr val="FFFFFF"/>
                    </a:solidFill>
                  </a:tcPr>
                </a:tc>
              </a:tr>
              <a:tr h="280035">
                <a:tc>
                  <a:txBody>
                    <a:bodyPr wrap="square"/>
                    <a:lstStyle/>
                    <a:p>
                      <a:r>
                        <a:rPr sz="1100" b="0">
                          <a:solidFill>
                            <a:srgbClr val="282828"/>
                          </a:solidFill>
                          <a:latin typeface="Arial"/>
                        </a:rPr>
                        <a:t>r4</a:t>
                      </a:r>
                    </a:p>
                  </a:txBody>
                  <a:tcPr marL="54864" marR="54864" marT="18288" marB="18288">
                    <a:solidFill>
                      <a:srgbClr val="ECF1F6"/>
                    </a:solidFill>
                  </a:tcPr>
                </a:tc>
                <a:tc>
                  <a:txBody>
                    <a:bodyPr wrap="square"/>
                    <a:lstStyle/>
                    <a:p>
                      <a:r>
                        <a:rPr sz="1100" b="0">
                          <a:solidFill>
                            <a:srgbClr val="282828"/>
                          </a:solidFill>
                          <a:latin typeface="Arial"/>
                        </a:rPr>
                        <a:t>117</a:t>
                      </a:r>
                    </a:p>
                  </a:txBody>
                  <a:tcPr marL="54864" marR="54864" marT="18288" marB="18288">
                    <a:solidFill>
                      <a:srgbClr val="ECF1F6"/>
                    </a:solidFill>
                  </a:tcPr>
                </a:tc>
                <a:tc>
                  <a:txBody>
                    <a:bodyPr wrap="square"/>
                    <a:lstStyle/>
                    <a:p>
                      <a:r>
                        <a:rPr sz="1100" b="0">
                          <a:solidFill>
                            <a:srgbClr val="282828"/>
                          </a:solidFill>
                          <a:latin typeface="Arial"/>
                        </a:rPr>
                        <a:t>124.29</a:t>
                      </a:r>
                    </a:p>
                  </a:txBody>
                  <a:tcPr marL="54864" marR="54864" marT="18288" marB="18288">
                    <a:solidFill>
                      <a:srgbClr val="ECF1F6"/>
                    </a:solidFill>
                  </a:tcPr>
                </a:tc>
                <a:tc>
                  <a:txBody>
                    <a:bodyPr wrap="square"/>
                    <a:lstStyle/>
                    <a:p>
                      <a:r>
                        <a:rPr sz="1100" b="0">
                          <a:solidFill>
                            <a:srgbClr val="282828"/>
                          </a:solidFill>
                          <a:latin typeface="Arial"/>
                        </a:rPr>
                        <a:t>1.062</a:t>
                      </a:r>
                    </a:p>
                  </a:txBody>
                  <a:tcPr marL="54864" marR="54864" marT="18288" marB="18288">
                    <a:solidFill>
                      <a:srgbClr val="ECF1F6"/>
                    </a:solidFill>
                  </a:tcPr>
                </a:tc>
                <a:tc>
                  <a:txBody>
                    <a:bodyPr wrap="square"/>
                    <a:lstStyle/>
                    <a:p>
                      <a:r>
                        <a:rPr sz="1100" b="0">
                          <a:solidFill>
                            <a:srgbClr val="282828"/>
                          </a:solidFill>
                          <a:latin typeface="Arial"/>
                        </a:rPr>
                        <a:t>PASS</a:t>
                      </a:r>
                    </a:p>
                  </a:txBody>
                  <a:tcPr marL="54864" marR="54864" marT="18288" marB="18288">
                    <a:solidFill>
                      <a:srgbClr val="ECF1F6"/>
                    </a:solidFill>
                  </a:tcPr>
                </a:tc>
              </a:tr>
              <a:tr h="280035">
                <a:tc>
                  <a:txBody>
                    <a:bodyPr wrap="square"/>
                    <a:lstStyle/>
                    <a:p>
                      <a:r>
                        <a:rPr sz="1100" b="0">
                          <a:solidFill>
                            <a:srgbClr val="282828"/>
                          </a:solidFill>
                          <a:latin typeface="Arial"/>
                        </a:rPr>
                        <a:t>r5</a:t>
                      </a:r>
                    </a:p>
                  </a:txBody>
                  <a:tcPr marL="54864" marR="54864" marT="18288" marB="18288">
                    <a:solidFill>
                      <a:srgbClr val="FFFFFF"/>
                    </a:solidFill>
                  </a:tcPr>
                </a:tc>
                <a:tc>
                  <a:txBody>
                    <a:bodyPr wrap="square"/>
                    <a:lstStyle/>
                    <a:p>
                      <a:r>
                        <a:rPr sz="1100" b="0">
                          <a:solidFill>
                            <a:srgbClr val="282828"/>
                          </a:solidFill>
                          <a:latin typeface="Arial"/>
                        </a:rPr>
                        <a:t>53</a:t>
                      </a:r>
                    </a:p>
                  </a:txBody>
                  <a:tcPr marL="54864" marR="54864" marT="18288" marB="18288">
                    <a:solidFill>
                      <a:srgbClr val="FFFFFF"/>
                    </a:solidFill>
                  </a:tcPr>
                </a:tc>
                <a:tc>
                  <a:txBody>
                    <a:bodyPr wrap="square"/>
                    <a:lstStyle/>
                    <a:p>
                      <a:r>
                        <a:rPr sz="1100" b="0">
                          <a:solidFill>
                            <a:srgbClr val="282828"/>
                          </a:solidFill>
                          <a:latin typeface="Arial"/>
                        </a:rPr>
                        <a:t>54.66</a:t>
                      </a:r>
                    </a:p>
                  </a:txBody>
                  <a:tcPr marL="54864" marR="54864" marT="18288" marB="18288">
                    <a:solidFill>
                      <a:srgbClr val="FFFFFF"/>
                    </a:solidFill>
                  </a:tcPr>
                </a:tc>
                <a:tc>
                  <a:txBody>
                    <a:bodyPr wrap="square"/>
                    <a:lstStyle/>
                    <a:p>
                      <a:r>
                        <a:rPr sz="1100" b="0">
                          <a:solidFill>
                            <a:srgbClr val="282828"/>
                          </a:solidFill>
                          <a:latin typeface="Arial"/>
                        </a:rPr>
                        <a:t>1.031</a:t>
                      </a:r>
                    </a:p>
                  </a:txBody>
                  <a:tcPr marL="54864" marR="54864" marT="18288" marB="18288">
                    <a:solidFill>
                      <a:srgbClr val="FFFFFF"/>
                    </a:solidFill>
                  </a:tcPr>
                </a:tc>
                <a:tc>
                  <a:txBody>
                    <a:bodyPr wrap="square"/>
                    <a:lstStyle/>
                    <a:p>
                      <a:r>
                        <a:rPr sz="1100" b="0">
                          <a:solidFill>
                            <a:srgbClr val="282828"/>
                          </a:solidFill>
                          <a:latin typeface="Arial"/>
                        </a:rPr>
                        <a:t>PASS</a:t>
                      </a:r>
                    </a:p>
                  </a:txBody>
                  <a:tcPr marL="54864" marR="54864" marT="18288" marB="18288">
                    <a:solidFill>
                      <a:srgbClr val="FFFFFF"/>
                    </a:solidFill>
                  </a:tcPr>
                </a:tc>
              </a:tr>
            </a:tbl>
          </a:graphicData>
        </a:graphic>
      </p:graphicFrame>
      <p:sp>
        <p:nvSpPr>
          <p:cNvPr id="5" name="TextBox 4"/>
          <p:cNvSpPr txBox="1"/>
          <p:nvPr/>
        </p:nvSpPr>
        <p:spPr>
          <a:xfrm>
            <a:off x="411480" y="3124962"/>
            <a:ext cx="5806440" cy="274320"/>
          </a:xfrm>
          <a:prstGeom prst="rect">
            <a:avLst/>
          </a:prstGeom>
          <a:noFill/>
        </p:spPr>
        <p:txBody>
          <a:bodyPr wrap="square">
            <a:spAutoFit/>
          </a:bodyPr>
          <a:lstStyle/>
          <a:p>
            <a:pPr>
              <a:spcAft>
                <a:spcPts val="600"/>
              </a:spcAft>
            </a:pPr>
            <a:r>
              <a:rPr sz="1200" b="0">
                <a:solidFill>
                  <a:srgbClr val="282828"/>
                </a:solidFill>
                <a:latin typeface="Arial"/>
              </a:rPr>
              <a:t>•  The gates run in the committed regression suite (tRodgers3, coarsened 5x5 maps), so the reproduction cannot silently rot.</a:t>
            </a:r>
          </a:p>
        </p:txBody>
      </p:sp>
      <p:sp>
        <p:nvSpPr>
          <p:cNvPr id="6" name="TextBox 5"/>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Conventions decoded to get there, each pinned by its own test: aspheric-coefficient sign and units; the Zernike set is Born&amp;Wolf with a one-term index offset (negative control: dropping the offset misses rung 5 by 2989x); decenters verbatim with the tilt sense flipped; native stop aiming confirmed by A/B to 0.04 nm.</a:t>
            </a:r>
          </a:p>
          <a:p>
            <a:pPr>
              <a:spcAft>
                <a:spcPts val="600"/>
              </a:spcAft>
            </a:pPr>
            <a:r>
              <a:rPr sz="1200" b="0">
                <a:solidFill>
                  <a:srgbClr val="282828"/>
                </a:solidFill>
                <a:latin typeface="Arial"/>
              </a:rPr>
              <a:t>•  The reproduction is the licence for every comparison that follows: same metric, same statistic, same field sampling on both sides.</a:t>
            </a:r>
          </a:p>
        </p:txBody>
      </p:sp>
      <p:sp>
        <p:nvSpPr>
          <p:cNvPr id="7" name="TextBox 6"/>
          <p:cNvSpPr txBox="1"/>
          <p:nvPr/>
        </p:nvSpPr>
        <p:spPr>
          <a:xfrm>
            <a:off x="411480" y="3697986"/>
            <a:ext cx="11368735" cy="274320"/>
          </a:xfrm>
          <a:prstGeom prst="rect">
            <a:avLst/>
          </a:prstGeom>
          <a:noFill/>
        </p:spPr>
        <p:txBody>
          <a:bodyPr wrap="square">
            <a:spAutoFit/>
          </a:bodyPr>
          <a:lstStyle/>
          <a:p>
            <a:pPr>
              <a:spcAft>
                <a:spcPts val="600"/>
              </a:spcAft>
            </a:pPr>
            <a:r>
              <a:rPr sz="1050" b="0">
                <a:solidFill>
                  <a:srgbClr val="6E6E6E"/>
                </a:solidFill>
                <a:latin typeface="Arial"/>
              </a:rPr>
              <a:t>strict RMS WFE, centroid reference on the stage's frozen focal plane, exit-pupil anchor, piston-only removal; quoted statistic = dense 11x11 map MAXIMUM over the field box.  Known bounded approximation: the uniform pupil bundle vs CODE V's stop-gridded rays inflates the r2/r4 maps and the map minima slightly (full list: r3_s0_report.txt).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3 — The template</a:t>
            </a:r>
          </a:p>
          <a:p>
            <a:pPr>
              <a:spcAft>
                <a:spcPts val="0"/>
              </a:spcAft>
            </a:pPr>
            <a:r>
              <a:rPr sz="1250" b="0">
                <a:solidFill>
                  <a:srgbClr val="6E6E6E"/>
                </a:solidFill>
                <a:latin typeface="Arial"/>
              </a:rPr>
              <a:t>offset_imager: one parameterized flow — five stages, first-order identities re-derived at every iterate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298448"/>
            <a:ext cx="5806440" cy="713232"/>
          </a:xfrm>
          <a:prstGeom prst="roundRect">
            <a:avLst>
              <a:gd name="adj" fmla="val 10000"/>
            </a:avLst>
          </a:prstGeom>
          <a:solidFill>
            <a:srgbClr val="ECF1F6"/>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150" b="1">
                <a:solidFill>
                  <a:srgbClr val="282828"/>
                </a:solidFill>
                <a:latin typeface="Arial"/>
              </a:rPr>
              <a:t>S1 · coaxial solve</a:t>
            </a:r>
          </a:p>
          <a:p>
            <a:pPr algn="ctr">
              <a:spcAft>
                <a:spcPts val="0"/>
              </a:spcAft>
            </a:pPr>
            <a:r>
              <a:rPr sz="1000" b="0">
                <a:solidFill>
                  <a:srgbClr val="282828"/>
                </a:solidFill>
                <a:latin typeface="Arial"/>
              </a:rPr>
              <a:t>first-order seed (EFL = EPD x F#, Petzval = 0), then conics + aspheres at the on-axis box</a:t>
            </a:r>
          </a:p>
        </p:txBody>
      </p:sp>
      <p:sp>
        <p:nvSpPr>
          <p:cNvPr id="5" name="Down Arrow 4"/>
          <p:cNvSpPr/>
          <p:nvPr/>
        </p:nvSpPr>
        <p:spPr>
          <a:xfrm>
            <a:off x="3232404" y="1993392"/>
            <a:ext cx="164592" cy="164592"/>
          </a:xfrm>
          <a:prstGeom prst="down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2139696"/>
            <a:ext cx="5806440" cy="713232"/>
          </a:xfrm>
          <a:prstGeom prst="roundRect">
            <a:avLst>
              <a:gd name="adj" fmla="val 10000"/>
            </a:avLst>
          </a:prstGeom>
          <a:solidFill>
            <a:srgbClr val="ECF1F6"/>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150" b="1">
                <a:solidFill>
                  <a:srgbClr val="282828"/>
                </a:solidFill>
                <a:latin typeface="Arial"/>
              </a:rPr>
              <a:t>S2 · the move</a:t>
            </a:r>
          </a:p>
          <a:p>
            <a:pPr algn="ctr">
              <a:spcAft>
                <a:spcPts val="0"/>
              </a:spcAft>
            </a:pPr>
            <a:r>
              <a:rPr sz="1000" b="0">
                <a:solidFill>
                  <a:srgbClr val="282828"/>
                </a:solidFill>
                <a:latin typeface="Arial"/>
              </a:rPr>
              <a:t>the same mirrors at the offset box; only the focal plane follows</a:t>
            </a:r>
          </a:p>
        </p:txBody>
      </p:sp>
      <p:sp>
        <p:nvSpPr>
          <p:cNvPr id="7" name="Down Arrow 6"/>
          <p:cNvSpPr/>
          <p:nvPr/>
        </p:nvSpPr>
        <p:spPr>
          <a:xfrm>
            <a:off x="3232404" y="2834640"/>
            <a:ext cx="164592" cy="164592"/>
          </a:xfrm>
          <a:prstGeom prst="down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1480" y="2980944"/>
            <a:ext cx="5806440" cy="713232"/>
          </a:xfrm>
          <a:prstGeom prst="roundRect">
            <a:avLst>
              <a:gd name="adj" fmla="val 10000"/>
            </a:avLst>
          </a:prstGeom>
          <a:solidFill>
            <a:srgbClr val="ECF1F6"/>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150" b="1">
                <a:solidFill>
                  <a:srgbClr val="282828"/>
                </a:solidFill>
                <a:latin typeface="Arial"/>
              </a:rPr>
              <a:t>S3 · re-solve at the used field</a:t>
            </a:r>
          </a:p>
          <a:p>
            <a:pPr algn="ctr">
              <a:spcAft>
                <a:spcPts val="0"/>
              </a:spcAft>
            </a:pPr>
            <a:r>
              <a:rPr sz="1000" b="0">
                <a:solidFill>
                  <a:srgbClr val="282828"/>
                </a:solidFill>
                <a:latin typeface="Arial"/>
              </a:rPr>
              <a:t>symmetric surfaces re-solved at the offset, from the better of two starts</a:t>
            </a:r>
          </a:p>
        </p:txBody>
      </p:sp>
      <p:sp>
        <p:nvSpPr>
          <p:cNvPr id="9" name="Down Arrow 8"/>
          <p:cNvSpPr/>
          <p:nvPr/>
        </p:nvSpPr>
        <p:spPr>
          <a:xfrm>
            <a:off x="3232404" y="3675888"/>
            <a:ext cx="164592" cy="164592"/>
          </a:xfrm>
          <a:prstGeom prst="down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 y="3822191"/>
            <a:ext cx="5806440" cy="713232"/>
          </a:xfrm>
          <a:prstGeom prst="roundRect">
            <a:avLst>
              <a:gd name="adj" fmla="val 10000"/>
            </a:avLst>
          </a:prstGeom>
          <a:solidFill>
            <a:srgbClr val="ECF1F6"/>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150" b="1">
                <a:solidFill>
                  <a:srgbClr val="282828"/>
                </a:solidFill>
                <a:latin typeface="Arial"/>
              </a:rPr>
              <a:t>S4 · tilt/decenter under constraints</a:t>
            </a:r>
          </a:p>
          <a:p>
            <a:pPr algn="ctr">
              <a:spcAft>
                <a:spcPts val="0"/>
              </a:spcAft>
            </a:pPr>
            <a:r>
              <a:rPr sz="1000" b="0">
                <a:solidFill>
                  <a:srgbClr val="282828"/>
                </a:solidFill>
                <a:latin typeface="Arial"/>
              </a:rPr>
              <a:t>exit direction + clearances enter the solve as residual rows</a:t>
            </a:r>
          </a:p>
        </p:txBody>
      </p:sp>
      <p:sp>
        <p:nvSpPr>
          <p:cNvPr id="11" name="Down Arrow 10"/>
          <p:cNvSpPr/>
          <p:nvPr/>
        </p:nvSpPr>
        <p:spPr>
          <a:xfrm>
            <a:off x="3232404" y="4517136"/>
            <a:ext cx="164592" cy="164592"/>
          </a:xfrm>
          <a:prstGeom prst="down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11480" y="4663440"/>
            <a:ext cx="5806440" cy="713232"/>
          </a:xfrm>
          <a:prstGeom prst="roundRect">
            <a:avLst>
              <a:gd name="adj" fmla="val 10000"/>
            </a:avLst>
          </a:prstGeom>
          <a:solidFill>
            <a:srgbClr val="ECF1F6"/>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150" b="1">
                <a:solidFill>
                  <a:srgbClr val="282828"/>
                </a:solidFill>
                <a:latin typeface="Arial"/>
              </a:rPr>
              <a:t>S5 · Zernike departures</a:t>
            </a:r>
          </a:p>
          <a:p>
            <a:pPr algn="ctr">
              <a:spcAft>
                <a:spcPts val="0"/>
              </a:spcAft>
            </a:pPr>
            <a:r>
              <a:rPr sz="1000" b="0">
                <a:solidFill>
                  <a:srgbClr val="282828"/>
                </a:solidFill>
                <a:latin typeface="Arial"/>
              </a:rPr>
              <a:t>aspheres replaced; power pinned to the radii, tilt to the pointing</a:t>
            </a:r>
          </a:p>
        </p:txBody>
      </p:sp>
      <p:sp>
        <p:nvSpPr>
          <p:cNvPr id="13" name="TextBox 12"/>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Identities are enforced by construction, not penalized: EFL exact at every iterate; Petzval zero in the symmetric stages; stop pose re-derived; focal plane re-posed per stage.</a:t>
            </a:r>
          </a:p>
          <a:p>
            <a:pPr>
              <a:spcAft>
                <a:spcPts val="600"/>
              </a:spcAft>
            </a:pPr>
            <a:r>
              <a:rPr sz="1200" b="0">
                <a:solidFill>
                  <a:srgbClr val="282828"/>
                </a:solidFill>
                <a:latin typeface="Arial"/>
              </a:rPr>
              <a:t>•  The solver is damped Gauss–Newton on per-ray strict-WFE residuals over a 3x3 solve grid; every reported number is scored on the dense map (solve set != scoring set).</a:t>
            </a:r>
          </a:p>
          <a:p>
            <a:pPr>
              <a:spcAft>
                <a:spcPts val="600"/>
              </a:spcAft>
            </a:pPr>
            <a:r>
              <a:rPr sz="1200" b="0">
                <a:solidFill>
                  <a:srgbClr val="282828"/>
                </a:solidFill>
                <a:latin typeface="Arial"/>
              </a:rPr>
              <a:t>•  One call runs the whole story — ladder, counter-designs, report: oi_story(params).  The challenge instance and a second instrument (slide 8) are the same code at different parameters.</a:t>
            </a:r>
          </a:p>
        </p:txBody>
      </p:sp>
      <p:sp>
        <p:nvSpPr>
          <p:cNvPr id="14" name="TextBox 13"/>
          <p:cNvSpPr txBox="1"/>
          <p:nvPr/>
        </p:nvSpPr>
        <p:spPr>
          <a:xfrm>
            <a:off x="6400800" y="3538727"/>
            <a:ext cx="5394960" cy="274320"/>
          </a:xfrm>
          <a:prstGeom prst="rect">
            <a:avLst/>
          </a:prstGeom>
          <a:noFill/>
        </p:spPr>
        <p:txBody>
          <a:bodyPr wrap="square">
            <a:spAutoFit/>
          </a:bodyPr>
          <a:lstStyle/>
          <a:p>
            <a:pPr>
              <a:spcAft>
                <a:spcPts val="600"/>
              </a:spcAft>
            </a:pPr>
            <a:r>
              <a:rPr sz="1050" b="0">
                <a:solidFill>
                  <a:srgbClr val="6E6E6E"/>
                </a:solidFill>
                <a:latin typeface="Arial"/>
              </a:rPr>
              <a:t>Template: templates/10_telescopes/offset_imager (committed, with per-stage reports and decks).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4 — Stages 1–3: solve, move, re-solve</a:t>
            </a:r>
          </a:p>
          <a:p>
            <a:pPr>
              <a:spcAft>
                <a:spcPts val="0"/>
              </a:spcAft>
            </a:pPr>
            <a:r>
              <a:rPr sz="1250" b="0">
                <a:solidFill>
                  <a:srgbClr val="6E6E6E"/>
                </a:solidFill>
                <a:latin typeface="Arial"/>
              </a:rPr>
              <a:t>Depth bought on axis is paid back at the offset; re-solving at the used field recovers 1205x</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S1, on-axis box: 37.8 nm map max (reported rung 1: 159).  The solve runs 4x deeper than the source rung — 13.5 µm to 23.7 nm qmean in 7 iterations.</a:t>
            </a:r>
          </a:p>
          <a:p>
            <a:pPr>
              <a:spcAft>
                <a:spcPts val="600"/>
              </a:spcAft>
            </a:pPr>
            <a:r>
              <a:rPr sz="1200" b="0">
                <a:solidFill>
                  <a:srgbClr val="282828"/>
                </a:solidFill>
                <a:latin typeface="Arial"/>
              </a:rPr>
              <a:t>•  S2, the same mirrors at 22°: 303,586 nm — 34x the reported 8810.  The deeper on-axis optimum pays proportionally more off axis: this rung measures the S1 design as much as the offset.</a:t>
            </a:r>
          </a:p>
          <a:p>
            <a:pPr>
              <a:spcAft>
                <a:spcPts val="600"/>
              </a:spcAft>
            </a:pPr>
            <a:r>
              <a:rPr sz="1200" b="0">
                <a:solidFill>
                  <a:srgbClr val="282828"/>
                </a:solidFill>
                <a:latin typeface="Arial"/>
              </a:rPr>
              <a:t>•  S3, re-solved at the used field: 252.0 nm (reported: 168, ratio 1.50).  The fresh Petzval-flat sphere seed (25.6 µm start) beats the carried on-axis aspheres as the starting point; the conics migrate to the oblate class (K1 -2.42 to 1.44).</a:t>
            </a:r>
          </a:p>
        </p:txBody>
      </p:sp>
      <p:pic>
        <p:nvPicPr>
          <p:cNvPr id="5" name="Picture 4" descr="r3t_s2_map.png"/>
          <p:cNvPicPr>
            <a:picLocks noChangeAspect="1"/>
          </p:cNvPicPr>
          <p:nvPr/>
        </p:nvPicPr>
        <p:blipFill>
          <a:blip r:embed="rId2"/>
          <a:stretch>
            <a:fillRect/>
          </a:stretch>
        </p:blipFill>
        <p:spPr>
          <a:xfrm>
            <a:off x="7862143" y="1298448"/>
            <a:ext cx="2472273" cy="2166620"/>
          </a:xfrm>
          <a:prstGeom prst="rect">
            <a:avLst/>
          </a:prstGeom>
        </p:spPr>
      </p:pic>
      <p:sp>
        <p:nvSpPr>
          <p:cNvPr id="6" name="TextBox 5"/>
          <p:cNvSpPr txBox="1"/>
          <p:nvPr/>
        </p:nvSpPr>
        <p:spPr>
          <a:xfrm>
            <a:off x="6400800" y="3483356"/>
            <a:ext cx="5394960" cy="229107"/>
          </a:xfrm>
          <a:prstGeom prst="rect">
            <a:avLst/>
          </a:prstGeom>
          <a:noFill/>
        </p:spPr>
        <p:txBody>
          <a:bodyPr wrap="square">
            <a:spAutoFit/>
          </a:bodyPr>
          <a:lstStyle/>
          <a:p>
            <a:pPr algn="ctr">
              <a:spcAft>
                <a:spcPts val="0"/>
              </a:spcAft>
            </a:pPr>
            <a:r>
              <a:rPr sz="1000" b="0">
                <a:solidFill>
                  <a:srgbClr val="6E6E6E"/>
                </a:solidFill>
                <a:latin typeface="Arial"/>
              </a:rPr>
              <a:t>S2: the price of moving the box with the design frozen.</a:t>
            </a:r>
          </a:p>
        </p:txBody>
      </p:sp>
      <p:pic>
        <p:nvPicPr>
          <p:cNvPr id="7" name="Picture 6" descr="r3t_s3_map.png"/>
          <p:cNvPicPr>
            <a:picLocks noChangeAspect="1"/>
          </p:cNvPicPr>
          <p:nvPr/>
        </p:nvPicPr>
        <p:blipFill>
          <a:blip r:embed="rId3"/>
          <a:stretch>
            <a:fillRect/>
          </a:stretch>
        </p:blipFill>
        <p:spPr>
          <a:xfrm>
            <a:off x="7798851" y="3749039"/>
            <a:ext cx="2598856" cy="2166620"/>
          </a:xfrm>
          <a:prstGeom prst="rect">
            <a:avLst/>
          </a:prstGeom>
        </p:spPr>
      </p:pic>
      <p:sp>
        <p:nvSpPr>
          <p:cNvPr id="8" name="TextBox 7"/>
          <p:cNvSpPr txBox="1"/>
          <p:nvPr/>
        </p:nvSpPr>
        <p:spPr>
          <a:xfrm>
            <a:off x="6400800" y="5933947"/>
            <a:ext cx="5394960" cy="229107"/>
          </a:xfrm>
          <a:prstGeom prst="rect">
            <a:avLst/>
          </a:prstGeom>
          <a:noFill/>
        </p:spPr>
        <p:txBody>
          <a:bodyPr wrap="square">
            <a:spAutoFit/>
          </a:bodyPr>
          <a:lstStyle/>
          <a:p>
            <a:pPr algn="ctr">
              <a:spcAft>
                <a:spcPts val="0"/>
              </a:spcAft>
            </a:pPr>
            <a:r>
              <a:rPr sz="1000" b="0">
                <a:solidFill>
                  <a:srgbClr val="6E6E6E"/>
                </a:solidFill>
                <a:latin typeface="Arial"/>
              </a:rPr>
              <a:t>S3: re-solved at the offset — the map max returns to the hundreds of nm.</a:t>
            </a:r>
          </a:p>
        </p:txBody>
      </p:sp>
      <p:sp>
        <p:nvSpPr>
          <p:cNvPr id="9" name="TextBox 8"/>
          <p:cNvSpPr txBox="1"/>
          <p:nvPr/>
        </p:nvSpPr>
        <p:spPr>
          <a:xfrm>
            <a:off x="6400800" y="6199631"/>
            <a:ext cx="5394960" cy="274320"/>
          </a:xfrm>
          <a:prstGeom prst="rect">
            <a:avLst/>
          </a:prstGeom>
          <a:noFill/>
        </p:spPr>
        <p:txBody>
          <a:bodyPr wrap="square">
            <a:spAutoFit/>
          </a:bodyPr>
          <a:lstStyle/>
          <a:p>
            <a:pPr>
              <a:spcAft>
                <a:spcPts val="600"/>
              </a:spcAft>
            </a:pPr>
            <a:r>
              <a:rPr sz="1050" b="0">
                <a:solidFill>
                  <a:srgbClr val="6E6E6E"/>
                </a:solidFill>
                <a:latin typeface="Arial"/>
              </a:rPr>
              <a:t>strict RMS WFE, centroid reference on the stage's frozen focal plane, exit-pupil anchor, piston-only removal; quoted statistic = dense 11x11 map MAXIMUM over the field box.  S1–S3 run unconstrained; their clearance floors (3 / 27 / 13 mm) are reported for context only.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5 — Stage 4, the buildability rung</a:t>
            </a:r>
          </a:p>
          <a:p>
            <a:pPr>
              <a:spcAft>
                <a:spcPts val="0"/>
              </a:spcAft>
            </a:pPr>
            <a:r>
              <a:rPr sz="1250" b="0">
                <a:solidFill>
                  <a:srgbClr val="6E6E6E"/>
                </a:solidFill>
                <a:latin typeface="Arial"/>
              </a:rPr>
              <a:t>Paying the same clearance constraint lands the same number: 113.6 nm at 34.1 mm vs the reported 117 at ≥ 35 — 0.97x</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Unconstrained, tilt/decenter reach 58.3 nm — with the M3-to-focal-plane beam through M2's patch (clearance floor 0.0 mm).  Not buildable.</a:t>
            </a:r>
          </a:p>
          <a:p>
            <a:pPr>
              <a:spcAft>
                <a:spcPts val="600"/>
              </a:spcAft>
            </a:pPr>
            <a:r>
              <a:rPr sz="1200" b="0">
                <a:solidFill>
                  <a:srgbClr val="282828"/>
                </a:solidFill>
                <a:latin typeface="Arial"/>
              </a:rPr>
              <a:t>•  The clearance model: nine beam-leg/obstacle pairs, per-field footprint disks over the box centre and YAN extremes, the focal plane counted as an obstacle.  The same model the solve pays as hinge residual rows and the report gates.</a:t>
            </a:r>
          </a:p>
          <a:p>
            <a:pPr>
              <a:spcAft>
                <a:spcPts val="600"/>
              </a:spcAft>
            </a:pPr>
            <a:r>
              <a:rPr sz="1200" b="0">
                <a:solidFill>
                  <a:srgbClr val="282828"/>
                </a:solidFill>
                <a:latin typeface="Arial"/>
              </a:rPr>
              <a:t>•  Two toolchains, same constraint, same answer to 3% — strong evidence both are measuring the same design space — and a clean measurement of what the clearance constraint costs: 1.9x in WFE at this rung (58.3 to 113.6 nm).</a:t>
            </a:r>
          </a:p>
          <a:p>
            <a:pPr>
              <a:spcAft>
                <a:spcPts val="600"/>
              </a:spcAft>
            </a:pPr>
            <a:r>
              <a:rPr sz="1200" b="0">
                <a:solidFill>
                  <a:srgbClr val="282828"/>
                </a:solidFill>
                <a:latin typeface="Arial"/>
              </a:rPr>
              <a:t>•  Exit chief within 0.03° of horizontal at every stage (the pin, solved as an equality row).</a:t>
            </a:r>
          </a:p>
        </p:txBody>
      </p:sp>
      <p:pic>
        <p:nvPicPr>
          <p:cNvPr id="5" name="Picture 4" descr="r3t_s4_fields.png"/>
          <p:cNvPicPr>
            <a:picLocks noChangeAspect="1"/>
          </p:cNvPicPr>
          <p:nvPr/>
        </p:nvPicPr>
        <p:blipFill>
          <a:blip r:embed="rId2"/>
          <a:stretch>
            <a:fillRect/>
          </a:stretch>
        </p:blipFill>
        <p:spPr>
          <a:xfrm>
            <a:off x="7554178" y="1298448"/>
            <a:ext cx="3088203" cy="2166620"/>
          </a:xfrm>
          <a:prstGeom prst="rect">
            <a:avLst/>
          </a:prstGeom>
        </p:spPr>
      </p:pic>
      <p:sp>
        <p:nvSpPr>
          <p:cNvPr id="6" name="TextBox 5"/>
          <p:cNvSpPr txBox="1"/>
          <p:nvPr/>
        </p:nvSpPr>
        <p:spPr>
          <a:xfrm>
            <a:off x="6400800" y="3483356"/>
            <a:ext cx="5394960" cy="229107"/>
          </a:xfrm>
          <a:prstGeom prst="rect">
            <a:avLst/>
          </a:prstGeom>
          <a:noFill/>
        </p:spPr>
        <p:txBody>
          <a:bodyPr wrap="square">
            <a:spAutoFit/>
          </a:bodyPr>
          <a:lstStyle/>
          <a:p>
            <a:pPr algn="ctr">
              <a:spcAft>
                <a:spcPts val="0"/>
              </a:spcAft>
            </a:pPr>
            <a:r>
              <a:rPr sz="1000" b="0">
                <a:solidFill>
                  <a:srgbClr val="6E6E6E"/>
                </a:solidFill>
                <a:latin typeface="Arial"/>
              </a:rPr>
              <a:t>S4 field envelopes: every beam leg clears every mirror edge (floor 34.1 mm).</a:t>
            </a:r>
          </a:p>
        </p:txBody>
      </p:sp>
      <p:pic>
        <p:nvPicPr>
          <p:cNvPr id="7" name="Picture 6" descr="r3t_s4_map.png"/>
          <p:cNvPicPr>
            <a:picLocks noChangeAspect="1"/>
          </p:cNvPicPr>
          <p:nvPr/>
        </p:nvPicPr>
        <p:blipFill>
          <a:blip r:embed="rId3"/>
          <a:stretch>
            <a:fillRect/>
          </a:stretch>
        </p:blipFill>
        <p:spPr>
          <a:xfrm>
            <a:off x="7849143" y="3749039"/>
            <a:ext cx="2498273" cy="2166620"/>
          </a:xfrm>
          <a:prstGeom prst="rect">
            <a:avLst/>
          </a:prstGeom>
        </p:spPr>
      </p:pic>
      <p:sp>
        <p:nvSpPr>
          <p:cNvPr id="8" name="TextBox 7"/>
          <p:cNvSpPr txBox="1"/>
          <p:nvPr/>
        </p:nvSpPr>
        <p:spPr>
          <a:xfrm>
            <a:off x="6400800" y="5933947"/>
            <a:ext cx="5394960" cy="229107"/>
          </a:xfrm>
          <a:prstGeom prst="rect">
            <a:avLst/>
          </a:prstGeom>
          <a:noFill/>
        </p:spPr>
        <p:txBody>
          <a:bodyPr wrap="square">
            <a:spAutoFit/>
          </a:bodyPr>
          <a:lstStyle/>
          <a:p>
            <a:pPr algn="ctr">
              <a:spcAft>
                <a:spcPts val="0"/>
              </a:spcAft>
            </a:pPr>
            <a:r>
              <a:rPr sz="1000" b="0">
                <a:solidFill>
                  <a:srgbClr val="6E6E6E"/>
                </a:solidFill>
                <a:latin typeface="Arial"/>
              </a:rPr>
              <a:t>S4 map: 113.6 nm max over the box.</a:t>
            </a:r>
          </a:p>
        </p:txBody>
      </p:sp>
      <p:sp>
        <p:nvSpPr>
          <p:cNvPr id="9" name="TextBox 8"/>
          <p:cNvSpPr txBox="1"/>
          <p:nvPr/>
        </p:nvSpPr>
        <p:spPr>
          <a:xfrm>
            <a:off x="6400800" y="6199631"/>
            <a:ext cx="5394960" cy="274320"/>
          </a:xfrm>
          <a:prstGeom prst="rect">
            <a:avLst/>
          </a:prstGeom>
          <a:noFill/>
        </p:spPr>
        <p:txBody>
          <a:bodyPr wrap="square">
            <a:spAutoFit/>
          </a:bodyPr>
          <a:lstStyle/>
          <a:p>
            <a:pPr>
              <a:spcAft>
                <a:spcPts val="600"/>
              </a:spcAft>
            </a:pPr>
            <a:r>
              <a:rPr sz="1050" b="0">
                <a:solidFill>
                  <a:srgbClr val="6E6E6E"/>
                </a:solidFill>
                <a:latin typeface="Arial"/>
              </a:rPr>
              <a:t>strict RMS WFE, centroid reference on the stage's frozen focal plane, exit-pupil anchor, piston-only removal; quoted statistic = dense 11x11 map MAXIMUM over the field box.  The 34.1 mm floor is CONFIRMED at fine sampling under the fixed clearance measure (packet addendum); the truer convex-hull glass model reads the same design at 42.0 mm — comfortably inside the stated 35.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6 — Stage 5: diagnosed, then beaten</a:t>
            </a:r>
          </a:p>
          <a:p>
            <a:pPr>
              <a:spcAft>
                <a:spcPts val="0"/>
              </a:spcAft>
            </a:pPr>
            <a:r>
              <a:rPr sz="1250" b="0">
                <a:solidFill>
                  <a:srgbClr val="6E6E6E"/>
                </a:solidFill>
                <a:latin typeface="Arial"/>
              </a:rPr>
              <a:t>The gap to the reported 53 was the solve-field count; matching it lands 45.4 nm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five-stage run closes S5 at 118.2 nm — stalled at its S4 level, with 82 Zernike variables against only 9 solve fields (the dense map is scored on 121 points; the solve set is what the optimizer sees).</a:t>
            </a:r>
          </a:p>
          <a:p>
            <a:pPr>
              <a:spcAft>
                <a:spcPts val="600"/>
              </a:spcAft>
            </a:pPr>
            <a:r>
              <a:rPr sz="1200" b="0">
                <a:solidFill>
                  <a:srgbClr val="282828"/>
                </a:solidFill>
                <a:latin typeface="Arial"/>
              </a:rPr>
              <a:t>•  The controlled probes, all from the same S4 state: 150 iterations at 9 fields reach 110.7 nm — iterations are NOT the gap.  25 solve fields at 60 iterations reach 54.1 — the field count is.  Nine fields under-determine 82 variables: the solve set converges while the dense map stalls.</a:t>
            </a:r>
          </a:p>
          <a:p>
            <a:pPr>
              <a:spcAft>
                <a:spcPts val="600"/>
              </a:spcAft>
            </a:pPr>
            <a:r>
              <a:rPr sz="1200" b="0">
                <a:solidFill>
                  <a:srgbClr val="282828"/>
                </a:solidFill>
                <a:latin typeface="Arial"/>
              </a:rPr>
              <a:t>•  With 25 fields AND the corrected clearance rows (slide 8): 45.4 nm at a 33.4 mm floor — 0.86x the reported 53, exit pin held to 0.008°.</a:t>
            </a:r>
          </a:p>
        </p:txBody>
      </p:sp>
      <p:pic>
        <p:nvPicPr>
          <p:cNvPr id="5" name="Picture 4" descr="r3t_s5_map.png"/>
          <p:cNvPicPr>
            <a:picLocks noChangeAspect="1"/>
          </p:cNvPicPr>
          <p:nvPr/>
        </p:nvPicPr>
        <p:blipFill>
          <a:blip r:embed="rId2"/>
          <a:stretch>
            <a:fillRect/>
          </a:stretch>
        </p:blipFill>
        <p:spPr>
          <a:xfrm>
            <a:off x="7931773" y="1298448"/>
            <a:ext cx="2333013" cy="2001520"/>
          </a:xfrm>
          <a:prstGeom prst="rect">
            <a:avLst/>
          </a:prstGeom>
        </p:spPr>
      </p:pic>
      <p:sp>
        <p:nvSpPr>
          <p:cNvPr id="6" name="TextBox 5"/>
          <p:cNvSpPr txBox="1"/>
          <p:nvPr/>
        </p:nvSpPr>
        <p:spPr>
          <a:xfrm>
            <a:off x="6400800" y="3318256"/>
            <a:ext cx="5394960" cy="394208"/>
          </a:xfrm>
          <a:prstGeom prst="rect">
            <a:avLst/>
          </a:prstGeom>
          <a:noFill/>
        </p:spPr>
        <p:txBody>
          <a:bodyPr wrap="square">
            <a:spAutoFit/>
          </a:bodyPr>
          <a:lstStyle/>
          <a:p>
            <a:pPr algn="ctr">
              <a:spcAft>
                <a:spcPts val="0"/>
              </a:spcAft>
            </a:pPr>
            <a:r>
              <a:rPr sz="1000" b="0">
                <a:solidFill>
                  <a:srgbClr val="6E6E6E"/>
                </a:solidFill>
                <a:latin typeface="Arial"/>
              </a:rPr>
              <a:t>The five-stage S5 of record: 118.2 nm.  Its recorded 34.6 mm floor corrects to 30.0 mm under the fixed clearance measure (packet addendum).</a:t>
            </a:r>
          </a:p>
        </p:txBody>
      </p:sp>
      <p:pic>
        <p:nvPicPr>
          <p:cNvPr id="7" name="Picture 6" descr="s5b_legC_map.png"/>
          <p:cNvPicPr>
            <a:picLocks noChangeAspect="1"/>
          </p:cNvPicPr>
          <p:nvPr/>
        </p:nvPicPr>
        <p:blipFill>
          <a:blip r:embed="rId3"/>
          <a:stretch>
            <a:fillRect/>
          </a:stretch>
        </p:blipFill>
        <p:spPr>
          <a:xfrm>
            <a:off x="7862735" y="3749040"/>
            <a:ext cx="2471088" cy="2166620"/>
          </a:xfrm>
          <a:prstGeom prst="rect">
            <a:avLst/>
          </a:prstGeom>
        </p:spPr>
      </p:pic>
      <p:sp>
        <p:nvSpPr>
          <p:cNvPr id="8" name="TextBox 7"/>
          <p:cNvSpPr txBox="1"/>
          <p:nvPr/>
        </p:nvSpPr>
        <p:spPr>
          <a:xfrm>
            <a:off x="6400800" y="5933948"/>
            <a:ext cx="5394960" cy="229107"/>
          </a:xfrm>
          <a:prstGeom prst="rect">
            <a:avLst/>
          </a:prstGeom>
          <a:noFill/>
        </p:spPr>
        <p:txBody>
          <a:bodyPr wrap="square">
            <a:spAutoFit/>
          </a:bodyPr>
          <a:lstStyle/>
          <a:p>
            <a:pPr algn="ctr">
              <a:spcAft>
                <a:spcPts val="0"/>
              </a:spcAft>
            </a:pPr>
            <a:r>
              <a:rPr sz="1000" b="0">
                <a:solidFill>
                  <a:srgbClr val="6E6E6E"/>
                </a:solidFill>
                <a:latin typeface="Arial"/>
              </a:rPr>
              <a:t>The honest re-solve: 45.4 nm max, true floor 33.4 mm.</a:t>
            </a:r>
          </a:p>
        </p:txBody>
      </p:sp>
      <p:sp>
        <p:nvSpPr>
          <p:cNvPr id="9" name="TextBox 8"/>
          <p:cNvSpPr txBox="1"/>
          <p:nvPr/>
        </p:nvSpPr>
        <p:spPr>
          <a:xfrm>
            <a:off x="6400800" y="6199632"/>
            <a:ext cx="5394960" cy="274320"/>
          </a:xfrm>
          <a:prstGeom prst="rect">
            <a:avLst/>
          </a:prstGeom>
          <a:noFill/>
        </p:spPr>
        <p:txBody>
          <a:bodyPr wrap="square">
            <a:spAutoFit/>
          </a:bodyPr>
          <a:lstStyle/>
          <a:p>
            <a:pPr>
              <a:spcAft>
                <a:spcPts val="600"/>
              </a:spcAft>
            </a:pPr>
            <a:r>
              <a:rPr sz="1050" b="0">
                <a:solidFill>
                  <a:srgbClr val="6E6E6E"/>
                </a:solidFill>
                <a:latin typeface="Arial"/>
              </a:rPr>
              <a:t>strict RMS WFE, centroid reference on the stage's frozen focal plane, exit-pupil anchor, piston-only removal; quoted statistic = dense 11x11 map MAXIMUM over the field box.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7 — Counter-designs, same constraints, same budget</a:t>
            </a:r>
          </a:p>
          <a:p>
            <a:pPr>
              <a:spcAft>
                <a:spcPts val="0"/>
              </a:spcAft>
            </a:pPr>
            <a:r>
              <a:rPr sz="1250" b="0">
                <a:solidFill>
                  <a:srgbClr val="6E6E6E"/>
                </a:solidFill>
                <a:latin typeface="Arial"/>
              </a:rPr>
              <a:t>The sphere+Zernike start wins 1.6x; releasing the pinned terms chokes the solve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 Sphere + Zernike from the start — S3's radii, conics zeroed, no aspheres, straight to the Zernike solve: 73.1 nm map max, against the heritage path's 118.2 under identical constraint rows and iteration budget.  The asphere heritage is a burden, not a head start.  The unconstrained variant of this branch (27.9 nm) does not survive buildability.</a:t>
            </a:r>
          </a:p>
          <a:p>
            <a:pPr>
              <a:spcAft>
                <a:spcPts val="600"/>
              </a:spcAft>
            </a:pPr>
            <a:r>
              <a:rPr sz="1200" b="0">
                <a:solidFill>
                  <a:srgbClr val="282828"/>
                </a:solidFill>
                <a:latin typeface="Arial"/>
              </a:rPr>
              <a:t>•  (b) Power and y-tilt released into the Zernike basis from the S4 design: 1372.9 nm — far worse than the pinned set.  The freed modes fight the jobs the pins already do (power held by the radii, tilt by the pointing); 88 variables against 9 solve fields plus constraint rows.  No evidence the reported 53 nm is term-set-limited — and affirmative evidence for the pinning doctrine at finite solver budget.</a:t>
            </a:r>
          </a:p>
        </p:txBody>
      </p:sp>
      <p:pic>
        <p:nvPicPr>
          <p:cNvPr id="5" name="Picture 4" descr="r3t_ca_map.png"/>
          <p:cNvPicPr>
            <a:picLocks noChangeAspect="1"/>
          </p:cNvPicPr>
          <p:nvPr/>
        </p:nvPicPr>
        <p:blipFill>
          <a:blip r:embed="rId2"/>
          <a:stretch>
            <a:fillRect/>
          </a:stretch>
        </p:blipFill>
        <p:spPr>
          <a:xfrm>
            <a:off x="7862735" y="1298448"/>
            <a:ext cx="2471088" cy="2166620"/>
          </a:xfrm>
          <a:prstGeom prst="rect">
            <a:avLst/>
          </a:prstGeom>
        </p:spPr>
      </p:pic>
      <p:sp>
        <p:nvSpPr>
          <p:cNvPr id="6" name="TextBox 5"/>
          <p:cNvSpPr txBox="1"/>
          <p:nvPr/>
        </p:nvSpPr>
        <p:spPr>
          <a:xfrm>
            <a:off x="6400800" y="3483356"/>
            <a:ext cx="5394960" cy="229107"/>
          </a:xfrm>
          <a:prstGeom prst="rect">
            <a:avLst/>
          </a:prstGeom>
          <a:noFill/>
        </p:spPr>
        <p:txBody>
          <a:bodyPr wrap="square">
            <a:spAutoFit/>
          </a:bodyPr>
          <a:lstStyle/>
          <a:p>
            <a:pPr algn="ctr">
              <a:spcAft>
                <a:spcPts val="0"/>
              </a:spcAft>
            </a:pPr>
            <a:r>
              <a:rPr sz="1000" b="0">
                <a:solidFill>
                  <a:srgbClr val="6E6E6E"/>
                </a:solidFill>
                <a:latin typeface="Arial"/>
              </a:rPr>
              <a:t>Counter (a): the sphere+Zernike start under the full constraint set — 73.1 nm.</a:t>
            </a:r>
          </a:p>
        </p:txBody>
      </p:sp>
      <p:pic>
        <p:nvPicPr>
          <p:cNvPr id="7" name="Picture 6" descr="r3t_cb_map.png"/>
          <p:cNvPicPr>
            <a:picLocks noChangeAspect="1"/>
          </p:cNvPicPr>
          <p:nvPr/>
        </p:nvPicPr>
        <p:blipFill>
          <a:blip r:embed="rId3"/>
          <a:stretch>
            <a:fillRect/>
          </a:stretch>
        </p:blipFill>
        <p:spPr>
          <a:xfrm>
            <a:off x="7813803" y="3749039"/>
            <a:ext cx="2568953" cy="2166620"/>
          </a:xfrm>
          <a:prstGeom prst="rect">
            <a:avLst/>
          </a:prstGeom>
        </p:spPr>
      </p:pic>
      <p:sp>
        <p:nvSpPr>
          <p:cNvPr id="8" name="TextBox 7"/>
          <p:cNvSpPr txBox="1"/>
          <p:nvPr/>
        </p:nvSpPr>
        <p:spPr>
          <a:xfrm>
            <a:off x="6400800" y="5933947"/>
            <a:ext cx="5394960" cy="229107"/>
          </a:xfrm>
          <a:prstGeom prst="rect">
            <a:avLst/>
          </a:prstGeom>
          <a:noFill/>
        </p:spPr>
        <p:txBody>
          <a:bodyPr wrap="square">
            <a:spAutoFit/>
          </a:bodyPr>
          <a:lstStyle/>
          <a:p>
            <a:pPr algn="ctr">
              <a:spcAft>
                <a:spcPts val="0"/>
              </a:spcAft>
            </a:pPr>
            <a:r>
              <a:rPr sz="1000" b="0">
                <a:solidFill>
                  <a:srgbClr val="6E6E6E"/>
                </a:solidFill>
                <a:latin typeface="Arial"/>
              </a:rPr>
              <a:t>Counter (b): power + y-tilt released — 1373 nm; the solve chokes.</a:t>
            </a:r>
          </a:p>
        </p:txBody>
      </p:sp>
      <p:sp>
        <p:nvSpPr>
          <p:cNvPr id="9" name="TextBox 8"/>
          <p:cNvSpPr txBox="1"/>
          <p:nvPr/>
        </p:nvSpPr>
        <p:spPr>
          <a:xfrm>
            <a:off x="6400800" y="6199631"/>
            <a:ext cx="5394960" cy="274320"/>
          </a:xfrm>
          <a:prstGeom prst="rect">
            <a:avLst/>
          </a:prstGeom>
          <a:noFill/>
        </p:spPr>
        <p:txBody>
          <a:bodyPr wrap="square">
            <a:spAutoFit/>
          </a:bodyPr>
          <a:lstStyle/>
          <a:p>
            <a:pPr>
              <a:spcAft>
                <a:spcPts val="600"/>
              </a:spcAft>
            </a:pPr>
            <a:r>
              <a:rPr sz="1050" b="0">
                <a:solidFill>
                  <a:srgbClr val="6E6E6E"/>
                </a:solidFill>
                <a:latin typeface="Arial"/>
              </a:rPr>
              <a:t>strict RMS WFE, centroid reference on the stage's frozen focal plane, exit-pupil anchor, piston-only removal; quoted statistic = dense 11x11 map MAXIMUM over the field box.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8 — What carried, what taught</a:t>
            </a:r>
          </a:p>
          <a:p>
            <a:pPr>
              <a:spcAft>
                <a:spcPts val="0"/>
              </a:spcAft>
            </a:pPr>
            <a:r>
              <a:rPr sz="1250" b="0">
                <a:solidFill>
                  <a:srgbClr val="6E6E6E"/>
                </a:solidFill>
                <a:latin typeface="Arial"/>
              </a:rPr>
              <a:t>The layout figure that said no — and the constraint-model fixes it forced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What carried: per-ray Gauss–Newton residuals (per-field-RMS residuals stall); first-order identities re-derived, never penalized; stop decenter as the exit-aiming variable; clearances as residual rows in the solve; negative controls with teeth at every decode; a solve set sized to the variable count (slide 6).</a:t>
            </a:r>
          </a:p>
          <a:p>
            <a:pPr>
              <a:spcAft>
                <a:spcPts val="600"/>
              </a:spcAft>
            </a:pPr>
            <a:r>
              <a:rPr sz="1200" b="0">
                <a:solidFill>
                  <a:srgbClr val="282828"/>
                </a:solidFill>
                <a:latin typeface="Arial"/>
              </a:rPr>
              <a:t>•  What taught: the beam-clearance measure must test PIERCING exactly and go NEGATIVE inside the glass — a sampled minimum reported millimetres of clearance for beams THROUGH a mirror, and a zero-at-contact measure gives the optimizer no way out; clearance judged at the box centre misses edge-field blockage — evaluate over the field; buildability constrains the FIELD CHOICE, not just the surfaces (no envelope of this family packages a 200 mm F/2.5 beam at a 12° offset — the field walk cannot separate the fans); stations are not spacings (the F/4.95 misread, retracted; packaging reads from the .seq truth file).</a:t>
            </a:r>
          </a:p>
          <a:p>
            <a:pPr>
              <a:spcAft>
                <a:spcPts val="600"/>
              </a:spcAft>
            </a:pPr>
            <a:r>
              <a:rPr sz="1200" b="0">
                <a:solidFill>
                  <a:srgbClr val="282828"/>
                </a:solidFill>
                <a:latin typeface="Arial"/>
              </a:rPr>
              <a:t>•  The second instrument (EPD 200 mm, F/2.5) exposed all of it and is retired for re-instancing; its layout figure — not a number — is what caught the defect.</a:t>
            </a:r>
          </a:p>
          <a:p>
            <a:pPr>
              <a:spcAft>
                <a:spcPts val="600"/>
              </a:spcAft>
            </a:pPr>
            <a:r>
              <a:rPr sz="1200" b="0">
                <a:solidFill>
                  <a:srgbClr val="282828"/>
                </a:solidFill>
                <a:latin typeface="Arial"/>
              </a:rPr>
              <a:t>•  And the lessons COMPILE: the continuation runner distilled from this arc (oi_walk — solve an easy field box, then walk it open with warm starts) lands a fresh, harder instance at 69.8 nm unattended, 8531x better than its cold start (the full experiment: companion deck, section F).</a:t>
            </a:r>
          </a:p>
        </p:txBody>
      </p:sp>
      <p:pic>
        <p:nvPicPr>
          <p:cNvPr id="5" name="Picture 4" descr="t4_s5_fields.png"/>
          <p:cNvPicPr>
            <a:picLocks noChangeAspect="1"/>
          </p:cNvPicPr>
          <p:nvPr/>
        </p:nvPicPr>
        <p:blipFill>
          <a:blip r:embed="rId2"/>
          <a:stretch>
            <a:fillRect/>
          </a:stretch>
        </p:blipFill>
        <p:spPr>
          <a:xfrm>
            <a:off x="6494664" y="1298448"/>
            <a:ext cx="5207231" cy="3629152"/>
          </a:xfrm>
          <a:prstGeom prst="rect">
            <a:avLst/>
          </a:prstGeom>
        </p:spPr>
      </p:pic>
      <p:sp>
        <p:nvSpPr>
          <p:cNvPr id="6" name="TextBox 5"/>
          <p:cNvSpPr txBox="1"/>
          <p:nvPr/>
        </p:nvSpPr>
        <p:spPr>
          <a:xfrm>
            <a:off x="6400800" y="4945888"/>
            <a:ext cx="5394960" cy="394208"/>
          </a:xfrm>
          <a:prstGeom prst="rect">
            <a:avLst/>
          </a:prstGeom>
          <a:noFill/>
        </p:spPr>
        <p:txBody>
          <a:bodyPr wrap="square">
            <a:spAutoFit/>
          </a:bodyPr>
          <a:lstStyle/>
          <a:p>
            <a:pPr algn="ctr">
              <a:spcAft>
                <a:spcPts val="0"/>
              </a:spcAft>
            </a:pPr>
            <a:r>
              <a:rPr sz="1000" b="0">
                <a:solidFill>
                  <a:srgbClr val="6E6E6E"/>
                </a:solidFill>
                <a:latin typeface="Arial"/>
              </a:rPr>
              <a:t>The figure that caught it: the second instrument's beams thread M1 and M2 while the sampled gate reported PASS.  Hardware drawings are gates, not illustrations.</a:t>
            </a:r>
          </a:p>
        </p:txBody>
      </p:sp>
      <p:sp>
        <p:nvSpPr>
          <p:cNvPr id="7" name="TextBox 6"/>
          <p:cNvSpPr txBox="1"/>
          <p:nvPr/>
        </p:nvSpPr>
        <p:spPr>
          <a:xfrm>
            <a:off x="6400800" y="5376672"/>
            <a:ext cx="5394960" cy="274320"/>
          </a:xfrm>
          <a:prstGeom prst="rect">
            <a:avLst/>
          </a:prstGeom>
          <a:noFill/>
        </p:spPr>
        <p:txBody>
          <a:bodyPr wrap="square">
            <a:spAutoFit/>
          </a:bodyPr>
          <a:lstStyle/>
          <a:p>
            <a:pPr>
              <a:spcAft>
                <a:spcPts val="600"/>
              </a:spcAft>
            </a:pPr>
            <a:r>
              <a:rPr sz="1050" b="0">
                <a:solidFill>
                  <a:srgbClr val="6E6E6E"/>
                </a:solidFill>
                <a:latin typeface="Arial"/>
              </a:rPr>
              <a:t>strict RMS WFE, centroid reference on the stage's frozen focal plane, exit-pupil anchor, piston-only removal; quoted statistic = dense 11x11 map MAXIMUM over the field box (slides 1–7).  Reproduce: rodgers3() = the Stage-0 gates, oi_story(...) = ladder + counters, run_s5_budget()/run_s5_signed() = the slide-6 probes; record: challenges/rodgers3/PACKET.md incl. the 2026-08-21 addendum.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