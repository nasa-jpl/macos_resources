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The Offset-Field Imager, Reproduced and Re-Designed</a:t>
            </a:r>
          </a:p>
          <a:p>
            <a:pPr>
              <a:spcAft>
                <a:spcPts val="1400"/>
              </a:spcAft>
            </a:pPr>
            <a:r>
              <a:rPr sz="2200" b="0">
                <a:solidFill>
                  <a:srgbClr val="282828"/>
                </a:solidFill>
                <a:latin typeface="Arial"/>
              </a:rPr>
              <a:t>MACOS design layer vs CODE V on a 22°-offset wide-field three-mirror imager</a:t>
            </a:r>
          </a:p>
          <a:p>
            <a:pPr>
              <a:spcAft>
                <a:spcPts val="800"/>
              </a:spcAft>
            </a:pPr>
            <a:r>
              <a:rPr sz="1500" b="0">
                <a:solidFill>
                  <a:srgbClr val="6E6E6E"/>
                </a:solidFill>
                <a:latin typeface="Arial"/>
              </a:rPr>
              <a:t>D. C. Redding with Claude Code — 20 August 2026.  Source study: M. Rodgers, 260802-WFOVimager_Offsetfield (CODE V) + five lens sequences (committed).  Reproduction: MACOS_resources mmacos/challenges/rodgers3 + templates/10_telescopes/offset_imager, with packet.</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Every WFE number in this deck: strict RMS WFE, centroid reference on the stage's frozen focal plane, exit-pupil anchor, piston-only removal; quoted statistic = dense 11x11 map MAXIMUM over the field box — the statistic the source slides quote (decoded on slide 2).  DRAFT — pending sign-off.</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1 — The challenge</a:t>
            </a:r>
          </a:p>
          <a:p>
            <a:pPr>
              <a:spcAft>
                <a:spcPts val="0"/>
              </a:spcAft>
            </a:pPr>
            <a:r>
              <a:rPr sz="1250" b="0">
                <a:solidFill>
                  <a:srgbClr val="6E6E6E"/>
                </a:solidFill>
                <a:latin typeface="Arial"/>
              </a:rPr>
              <a:t>A 20°x20° field box moved 22° off axis, an exit-beam pointing constraint, and hard clearances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system, from the lens sequences: three-mirror imager, EPD 75 mm, F/4 (EFL 300 mm), λ = 1 µm, field box 20°x20° full width centred at YAN +22°.  Constraints: exit beam horizontal (rung 2 on); beam/mirror clearances &gt; 50 mm and &gt; 35 mm (rung 4 on).  Optimization field: 9 points, XAN ±10°.</a:t>
            </a:r>
          </a:p>
          <a:p>
            <a:pPr>
              <a:spcAft>
                <a:spcPts val="600"/>
              </a:spcAft>
            </a:pPr>
            <a:r>
              <a:rPr sz="1200" b="0">
                <a:solidFill>
                  <a:srgbClr val="282828"/>
                </a:solidFill>
                <a:latin typeface="Arial"/>
              </a:rPr>
              <a:t>•  The source study climbs the five-rung ladder in the table — each rung one added freedom, each closed by a reported WFE.</a:t>
            </a:r>
          </a:p>
          <a:p>
            <a:pPr>
              <a:spcAft>
                <a:spcPts val="600"/>
              </a:spcAft>
            </a:pPr>
            <a:r>
              <a:rPr sz="1200" b="0">
                <a:solidFill>
                  <a:srgbClr val="282828"/>
                </a:solidFill>
                <a:latin typeface="Arial"/>
              </a:rPr>
              <a:t>•  The decoded statistic (Stage 0): each reported "RMS WFE ≤ x" equals the MAXIMUM of CODE V's dense RMS-vs-field map over the full box — established from the slides' own embedded plot metadata, not assumed.</a:t>
            </a:r>
          </a:p>
        </p:txBody>
      </p:sp>
      <p:graphicFrame>
        <p:nvGraphicFramePr>
          <p:cNvPr id="5" name="Table 4"/>
          <p:cNvGraphicFramePr>
            <a:graphicFrameLocks noGrp="1"/>
          </p:cNvGraphicFramePr>
          <p:nvPr/>
        </p:nvGraphicFramePr>
        <p:xfrm>
          <a:off x="411480" y="3538728"/>
          <a:ext cx="5806438" cy="1680210"/>
        </p:xfrm>
        <a:graphic>
          <a:graphicData uri="http://schemas.openxmlformats.org/drawingml/2006/table">
            <a:tbl>
              <a:tblPr firstRow="1" bandRow="1">
                <a:tableStyleId>{5C22544A-7EE6-4342-B048-85BDC9FD1C3A}</a:tableStyleId>
              </a:tblPr>
              <a:tblGrid>
                <a:gridCol w="464515"/>
                <a:gridCol w="4064507"/>
                <a:gridCol w="1277416"/>
              </a:tblGrid>
              <a:tr h="280035">
                <a:tc>
                  <a:txBody>
                    <a:bodyPr wrap="square"/>
                    <a:lstStyle/>
                    <a:p>
                      <a:r>
                        <a:rPr sz="1100" b="1">
                          <a:solidFill>
                            <a:srgbClr val="FFFFFF"/>
                          </a:solidFill>
                          <a:latin typeface="Arial"/>
                        </a:rPr>
                        <a:t>rung</a:t>
                      </a:r>
                    </a:p>
                  </a:txBody>
                  <a:tcPr marL="54864" marR="54864" marT="18288" marB="18288">
                    <a:solidFill>
                      <a:srgbClr val="1F4E79"/>
                    </a:solidFill>
                  </a:tcPr>
                </a:tc>
                <a:tc>
                  <a:txBody>
                    <a:bodyPr wrap="square"/>
                    <a:lstStyle/>
                    <a:p>
                      <a:r>
                        <a:rPr sz="1100" b="1">
                          <a:solidFill>
                            <a:srgbClr val="FFFFFF"/>
                          </a:solidFill>
                          <a:latin typeface="Arial"/>
                        </a:rPr>
                        <a:t>design state</a:t>
                      </a:r>
                    </a:p>
                  </a:txBody>
                  <a:tcPr marL="54864" marR="54864" marT="18288" marB="18288">
                    <a:solidFill>
                      <a:srgbClr val="1F4E79"/>
                    </a:solidFill>
                  </a:tcPr>
                </a:tc>
                <a:tc>
                  <a:txBody>
                    <a:bodyPr wrap="square"/>
                    <a:lstStyle/>
                    <a:p>
                      <a:r>
                        <a:rPr sz="1100" b="1">
                          <a:solidFill>
                            <a:srgbClr val="FFFFFF"/>
                          </a:solidFill>
                          <a:latin typeface="Arial"/>
                        </a:rPr>
                        <a:t>reported nm</a:t>
                      </a:r>
                    </a:p>
                  </a:txBody>
                  <a:tcPr marL="54864" marR="54864" marT="18288" marB="18288">
                    <a:solidFill>
                      <a:srgbClr val="1F4E79"/>
                    </a:solidFill>
                  </a:tcPr>
                </a:tc>
              </a:tr>
              <a:tr h="280035">
                <a:tc>
                  <a:txBody>
                    <a:bodyPr wrap="square"/>
                    <a:lstStyle/>
                    <a:p>
                      <a:r>
                        <a:rPr sz="1100" b="0">
                          <a:solidFill>
                            <a:srgbClr val="282828"/>
                          </a:solidFill>
                          <a:latin typeface="Arial"/>
                        </a:rPr>
                        <a:t>r1</a:t>
                      </a:r>
                    </a:p>
                  </a:txBody>
                  <a:tcPr marL="54864" marR="54864" marT="18288" marB="18288">
                    <a:solidFill>
                      <a:srgbClr val="FFFFFF"/>
                    </a:solidFill>
                  </a:tcPr>
                </a:tc>
                <a:tc>
                  <a:txBody>
                    <a:bodyPr wrap="square"/>
                    <a:lstStyle/>
                    <a:p>
                      <a:r>
                        <a:rPr sz="1100" b="0">
                          <a:solidFill>
                            <a:srgbClr val="282828"/>
                          </a:solidFill>
                          <a:latin typeface="Arial"/>
                        </a:rPr>
                        <a:t>coaxial, on-axis box, aspheres</a:t>
                      </a:r>
                    </a:p>
                  </a:txBody>
                  <a:tcPr marL="54864" marR="54864" marT="18288" marB="18288">
                    <a:solidFill>
                      <a:srgbClr val="FFFFFF"/>
                    </a:solidFill>
                  </a:tcPr>
                </a:tc>
                <a:tc>
                  <a:txBody>
                    <a:bodyPr wrap="square"/>
                    <a:lstStyle/>
                    <a:p>
                      <a:r>
                        <a:rPr sz="1100" b="0">
                          <a:solidFill>
                            <a:srgbClr val="282828"/>
                          </a:solidFill>
                          <a:latin typeface="Arial"/>
                        </a:rPr>
                        <a:t>159</a:t>
                      </a:r>
                    </a:p>
                  </a:txBody>
                  <a:tcPr marL="54864" marR="54864" marT="18288" marB="18288">
                    <a:solidFill>
                      <a:srgbClr val="FFFFFF"/>
                    </a:solidFill>
                  </a:tcPr>
                </a:tc>
              </a:tr>
              <a:tr h="280035">
                <a:tc>
                  <a:txBody>
                    <a:bodyPr wrap="square"/>
                    <a:lstStyle/>
                    <a:p>
                      <a:r>
                        <a:rPr sz="1100" b="0">
                          <a:solidFill>
                            <a:srgbClr val="282828"/>
                          </a:solidFill>
                          <a:latin typeface="Arial"/>
                        </a:rPr>
                        <a:t>r2</a:t>
                      </a:r>
                    </a:p>
                  </a:txBody>
                  <a:tcPr marL="54864" marR="54864" marT="18288" marB="18288">
                    <a:solidFill>
                      <a:srgbClr val="ECF1F6"/>
                    </a:solidFill>
                  </a:tcPr>
                </a:tc>
                <a:tc>
                  <a:txBody>
                    <a:bodyPr wrap="square"/>
                    <a:lstStyle/>
                    <a:p>
                      <a:r>
                        <a:rPr sz="1100" b="0">
                          <a:solidFill>
                            <a:srgbClr val="282828"/>
                          </a:solidFill>
                          <a:latin typeface="Arial"/>
                        </a:rPr>
                        <a:t>same mirrors, offset box, FPA refit</a:t>
                      </a:r>
                    </a:p>
                  </a:txBody>
                  <a:tcPr marL="54864" marR="54864" marT="18288" marB="18288">
                    <a:solidFill>
                      <a:srgbClr val="ECF1F6"/>
                    </a:solidFill>
                  </a:tcPr>
                </a:tc>
                <a:tc>
                  <a:txBody>
                    <a:bodyPr wrap="square"/>
                    <a:lstStyle/>
                    <a:p>
                      <a:r>
                        <a:rPr sz="1100" b="0">
                          <a:solidFill>
                            <a:srgbClr val="282828"/>
                          </a:solidFill>
                          <a:latin typeface="Arial"/>
                        </a:rPr>
                        <a:t>8810</a:t>
                      </a:r>
                    </a:p>
                  </a:txBody>
                  <a:tcPr marL="54864" marR="54864" marT="18288" marB="18288">
                    <a:solidFill>
                      <a:srgbClr val="ECF1F6"/>
                    </a:solidFill>
                  </a:tcPr>
                </a:tc>
              </a:tr>
              <a:tr h="280035">
                <a:tc>
                  <a:txBody>
                    <a:bodyPr wrap="square"/>
                    <a:lstStyle/>
                    <a:p>
                      <a:r>
                        <a:rPr sz="1100" b="0">
                          <a:solidFill>
                            <a:srgbClr val="282828"/>
                          </a:solidFill>
                          <a:latin typeface="Arial"/>
                        </a:rPr>
                        <a:t>r3</a:t>
                      </a:r>
                    </a:p>
                  </a:txBody>
                  <a:tcPr marL="54864" marR="54864" marT="18288" marB="18288">
                    <a:solidFill>
                      <a:srgbClr val="FFFFFF"/>
                    </a:solidFill>
                  </a:tcPr>
                </a:tc>
                <a:tc>
                  <a:txBody>
                    <a:bodyPr wrap="square"/>
                    <a:lstStyle/>
                    <a:p>
                      <a:r>
                        <a:rPr sz="1100" b="0">
                          <a:solidFill>
                            <a:srgbClr val="282828"/>
                          </a:solidFill>
                          <a:latin typeface="Arial"/>
                        </a:rPr>
                        <a:t>re-asphered at the offset</a:t>
                      </a:r>
                    </a:p>
                  </a:txBody>
                  <a:tcPr marL="54864" marR="54864" marT="18288" marB="18288">
                    <a:solidFill>
                      <a:srgbClr val="FFFFFF"/>
                    </a:solidFill>
                  </a:tcPr>
                </a:tc>
                <a:tc>
                  <a:txBody>
                    <a:bodyPr wrap="square"/>
                    <a:lstStyle/>
                    <a:p>
                      <a:r>
                        <a:rPr sz="1100" b="0">
                          <a:solidFill>
                            <a:srgbClr val="282828"/>
                          </a:solidFill>
                          <a:latin typeface="Arial"/>
                        </a:rPr>
                        <a:t>168</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 tilt/decenter + radii</a:t>
                      </a:r>
                    </a:p>
                  </a:txBody>
                  <a:tcPr marL="54864" marR="54864" marT="18288" marB="18288">
                    <a:solidFill>
                      <a:srgbClr val="ECF1F6"/>
                    </a:solidFill>
                  </a:tcPr>
                </a:tc>
                <a:tc>
                  <a:txBody>
                    <a:bodyPr wrap="square"/>
                    <a:lstStyle/>
                    <a:p>
                      <a:r>
                        <a:rPr sz="1100" b="0">
                          <a:solidFill>
                            <a:srgbClr val="282828"/>
                          </a:solidFill>
                          <a:latin typeface="Arial"/>
                        </a:rPr>
                        <a:t>117</a:t>
                      </a:r>
                    </a:p>
                  </a:txBody>
                  <a:tcPr marL="54864" marR="54864" marT="18288" marB="18288">
                    <a:solidFill>
                      <a:srgbClr val="ECF1F6"/>
                    </a:solidFill>
                  </a:tcPr>
                </a:tc>
              </a:tr>
              <a:tr h="280035">
                <a:tc>
                  <a:txBody>
                    <a:bodyPr wrap="square"/>
                    <a:lstStyle/>
                    <a:p>
                      <a:r>
                        <a:rPr sz="1100" b="0">
                          <a:solidFill>
                            <a:srgbClr val="282828"/>
                          </a:solidFill>
                          <a:latin typeface="Arial"/>
                        </a:rPr>
                        <a:t>r5</a:t>
                      </a:r>
                    </a:p>
                  </a:txBody>
                  <a:tcPr marL="54864" marR="54864" marT="18288" marB="18288">
                    <a:solidFill>
                      <a:srgbClr val="FFFFFF"/>
                    </a:solidFill>
                  </a:tcPr>
                </a:tc>
                <a:tc>
                  <a:txBody>
                    <a:bodyPr wrap="square"/>
                    <a:lstStyle/>
                    <a:p>
                      <a:r>
                        <a:rPr sz="1100" b="0">
                          <a:solidFill>
                            <a:srgbClr val="282828"/>
                          </a:solidFill>
                          <a:latin typeface="Arial"/>
                        </a:rPr>
                        <a:t>+ 8th-order Zernike + radii</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r>
            </a:tbl>
          </a:graphicData>
        </a:graphic>
      </p:graphicFrame>
      <p:pic>
        <p:nvPicPr>
          <p:cNvPr id="6" name="Picture 5" descr="r3t_s1_layout.png"/>
          <p:cNvPicPr>
            <a:picLocks noChangeAspect="1"/>
          </p:cNvPicPr>
          <p:nvPr/>
        </p:nvPicPr>
        <p:blipFill>
          <a:blip r:embed="rId2"/>
          <a:stretch>
            <a:fillRect/>
          </a:stretch>
        </p:blipFill>
        <p:spPr>
          <a:xfrm>
            <a:off x="6885413" y="1298448"/>
            <a:ext cx="4425733" cy="3812032"/>
          </a:xfrm>
          <a:prstGeom prst="rect">
            <a:avLst/>
          </a:prstGeom>
        </p:spPr>
      </p:pic>
      <p:sp>
        <p:nvSpPr>
          <p:cNvPr id="7" name="TextBox 6"/>
          <p:cNvSpPr txBox="1"/>
          <p:nvPr/>
        </p:nvSpPr>
        <p:spPr>
          <a:xfrm>
            <a:off x="6400800" y="5128767"/>
            <a:ext cx="5394960" cy="394208"/>
          </a:xfrm>
          <a:prstGeom prst="rect">
            <a:avLst/>
          </a:prstGeom>
          <a:noFill/>
        </p:spPr>
        <p:txBody>
          <a:bodyPr wrap="square">
            <a:spAutoFit/>
          </a:bodyPr>
          <a:lstStyle/>
          <a:p>
            <a:pPr algn="ctr">
              <a:spcAft>
                <a:spcPts val="0"/>
              </a:spcAft>
            </a:pPr>
            <a:r>
              <a:rPr sz="1000" b="0">
                <a:solidFill>
                  <a:srgbClr val="6E6E6E"/>
                </a:solidFill>
                <a:latin typeface="Arial"/>
              </a:rPr>
              <a:t>The configuration class, traced by MACOS: the coaxial stage of the reproduction, real rays.</a:t>
            </a:r>
          </a:p>
        </p:txBody>
      </p:sp>
      <p:sp>
        <p:nvSpPr>
          <p:cNvPr id="8" name="TextBox 7"/>
          <p:cNvSpPr txBox="1"/>
          <p:nvPr/>
        </p:nvSpPr>
        <p:spPr>
          <a:xfrm>
            <a:off x="6400800" y="5559552"/>
            <a:ext cx="5394960" cy="274320"/>
          </a:xfrm>
          <a:prstGeom prst="rect">
            <a:avLst/>
          </a:prstGeom>
          <a:noFill/>
        </p:spPr>
        <p:txBody>
          <a:bodyPr wrap="square">
            <a:spAutoFit/>
          </a:bodyPr>
          <a:lstStyle/>
          <a:p>
            <a:pPr>
              <a:spcAft>
                <a:spcPts val="600"/>
              </a:spcAft>
            </a:pPr>
            <a:r>
              <a:rPr sz="1050" b="0">
                <a:solidFill>
                  <a:srgbClr val="6E6E6E"/>
                </a:solidFill>
                <a:latin typeface="Arial"/>
              </a:rPr>
              <a:t>Reported nm values are quoted from the source slides; their statistic — the dense-map maximum — is decoded and gated on slide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2 — Stage 0: earn the right to compare</a:t>
            </a:r>
          </a:p>
          <a:p>
            <a:pPr>
              <a:spcAft>
                <a:spcPts val="0"/>
              </a:spcAft>
            </a:pPr>
            <a:r>
              <a:rPr sz="1250" b="0">
                <a:solidFill>
                  <a:srgbClr val="6E6E6E"/>
                </a:solidFill>
                <a:latin typeface="Arial"/>
              </a:rPr>
              <a:t>All five reported rungs reproduce from the lens sequences inside [0.8, 1.25]x — nothing tuned toward them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1680210"/>
        </p:xfrm>
        <a:graphic>
          <a:graphicData uri="http://schemas.openxmlformats.org/drawingml/2006/table">
            <a:tbl>
              <a:tblPr firstRow="1" bandRow="1">
                <a:tableStyleId>{5C22544A-7EE6-4342-B048-85BDC9FD1C3A}</a:tableStyleId>
              </a:tblPr>
              <a:tblGrid>
                <a:gridCol w="516128"/>
                <a:gridCol w="1419352"/>
                <a:gridCol w="2322576"/>
                <a:gridCol w="645159"/>
                <a:gridCol w="903224"/>
              </a:tblGrid>
              <a:tr h="280035">
                <a:tc>
                  <a:txBody>
                    <a:bodyPr wrap="square"/>
                    <a:lstStyle/>
                    <a:p>
                      <a:r>
                        <a:rPr sz="1100" b="1">
                          <a:solidFill>
                            <a:srgbClr val="FFFFFF"/>
                          </a:solidFill>
                          <a:latin typeface="Arial"/>
                        </a:rPr>
                        <a:t>rung</a:t>
                      </a:r>
                    </a:p>
                  </a:txBody>
                  <a:tcPr marL="54864" marR="54864" marT="18288" marB="18288">
                    <a:solidFill>
                      <a:srgbClr val="1F4E79"/>
                    </a:solidFill>
                  </a:tcPr>
                </a:tc>
                <a:tc>
                  <a:txBody>
                    <a:bodyPr wrap="square"/>
                    <a:lstStyle/>
                    <a:p>
                      <a:r>
                        <a:rPr sz="1100" b="1">
                          <a:solidFill>
                            <a:srgbClr val="FFFFFF"/>
                          </a:solidFill>
                          <a:latin typeface="Arial"/>
                        </a:rPr>
                        <a:t>reported nm</a:t>
                      </a:r>
                    </a:p>
                  </a:txBody>
                  <a:tcPr marL="54864" marR="54864" marT="18288" marB="18288">
                    <a:solidFill>
                      <a:srgbClr val="1F4E79"/>
                    </a:solidFill>
                  </a:tcPr>
                </a:tc>
                <a:tc>
                  <a:txBody>
                    <a:bodyPr wrap="square"/>
                    <a:lstStyle/>
                    <a:p>
                      <a:r>
                        <a:rPr sz="1100" b="1">
                          <a:solidFill>
                            <a:srgbClr val="FFFFFF"/>
                          </a:solidFill>
                          <a:latin typeface="Arial"/>
                        </a:rPr>
                        <a:t>reproduced map max</a:t>
                      </a:r>
                    </a:p>
                  </a:txBody>
                  <a:tcPr marL="54864" marR="54864" marT="18288" marB="18288">
                    <a:solidFill>
                      <a:srgbClr val="1F4E79"/>
                    </a:solidFill>
                  </a:tcPr>
                </a:tc>
                <a:tc>
                  <a:txBody>
                    <a:bodyPr wrap="square"/>
                    <a:lstStyle/>
                    <a:p>
                      <a:r>
                        <a:rPr sz="1100" b="1">
                          <a:solidFill>
                            <a:srgbClr val="FFFFFF"/>
                          </a:solidFill>
                          <a:latin typeface="Arial"/>
                        </a:rPr>
                        <a:t>ratio</a:t>
                      </a:r>
                    </a:p>
                  </a:txBody>
                  <a:tcPr marL="54864" marR="54864" marT="18288" marB="18288">
                    <a:solidFill>
                      <a:srgbClr val="1F4E79"/>
                    </a:solidFill>
                  </a:tcPr>
                </a:tc>
                <a:tc>
                  <a:txBody>
                    <a:bodyPr wrap="square"/>
                    <a:lstStyle/>
                    <a:p>
                      <a:r>
                        <a:rPr sz="1100" b="1">
                          <a:solidFill>
                            <a:srgbClr val="FFFFFF"/>
                          </a:solidFill>
                          <a:latin typeface="Arial"/>
                        </a:rPr>
                        <a:t>verdict</a:t>
                      </a:r>
                    </a:p>
                  </a:txBody>
                  <a:tcPr marL="54864" marR="54864" marT="18288" marB="18288">
                    <a:solidFill>
                      <a:srgbClr val="1F4E79"/>
                    </a:solidFill>
                  </a:tcPr>
                </a:tc>
              </a:tr>
              <a:tr h="280035">
                <a:tc>
                  <a:txBody>
                    <a:bodyPr wrap="square"/>
                    <a:lstStyle/>
                    <a:p>
                      <a:r>
                        <a:rPr sz="1100" b="0">
                          <a:solidFill>
                            <a:srgbClr val="282828"/>
                          </a:solidFill>
                          <a:latin typeface="Arial"/>
                        </a:rPr>
                        <a:t>r1</a:t>
                      </a:r>
                    </a:p>
                  </a:txBody>
                  <a:tcPr marL="54864" marR="54864" marT="18288" marB="18288">
                    <a:solidFill>
                      <a:srgbClr val="FFFFFF"/>
                    </a:solidFill>
                  </a:tcPr>
                </a:tc>
                <a:tc>
                  <a:txBody>
                    <a:bodyPr wrap="square"/>
                    <a:lstStyle/>
                    <a:p>
                      <a:r>
                        <a:rPr sz="1100" b="0">
                          <a:solidFill>
                            <a:srgbClr val="282828"/>
                          </a:solidFill>
                          <a:latin typeface="Arial"/>
                        </a:rPr>
                        <a:t>159</a:t>
                      </a:r>
                    </a:p>
                  </a:txBody>
                  <a:tcPr marL="54864" marR="54864" marT="18288" marB="18288">
                    <a:solidFill>
                      <a:srgbClr val="FFFFFF"/>
                    </a:solidFill>
                  </a:tcPr>
                </a:tc>
                <a:tc>
                  <a:txBody>
                    <a:bodyPr wrap="square"/>
                    <a:lstStyle/>
                    <a:p>
                      <a:r>
                        <a:rPr sz="1100" b="0">
                          <a:solidFill>
                            <a:srgbClr val="282828"/>
                          </a:solidFill>
                          <a:latin typeface="Arial"/>
                        </a:rPr>
                        <a:t>157.74</a:t>
                      </a:r>
                    </a:p>
                  </a:txBody>
                  <a:tcPr marL="54864" marR="54864" marT="18288" marB="18288">
                    <a:solidFill>
                      <a:srgbClr val="FFFFFF"/>
                    </a:solidFill>
                  </a:tcPr>
                </a:tc>
                <a:tc>
                  <a:txBody>
                    <a:bodyPr wrap="square"/>
                    <a:lstStyle/>
                    <a:p>
                      <a:r>
                        <a:rPr sz="1100" b="0">
                          <a:solidFill>
                            <a:srgbClr val="282828"/>
                          </a:solidFill>
                          <a:latin typeface="Arial"/>
                        </a:rPr>
                        <a:t>0.992</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r>
              <a:tr h="280035">
                <a:tc>
                  <a:txBody>
                    <a:bodyPr wrap="square"/>
                    <a:lstStyle/>
                    <a:p>
                      <a:r>
                        <a:rPr sz="1100" b="0">
                          <a:solidFill>
                            <a:srgbClr val="282828"/>
                          </a:solidFill>
                          <a:latin typeface="Arial"/>
                        </a:rPr>
                        <a:t>r2</a:t>
                      </a:r>
                    </a:p>
                  </a:txBody>
                  <a:tcPr marL="54864" marR="54864" marT="18288" marB="18288">
                    <a:solidFill>
                      <a:srgbClr val="ECF1F6"/>
                    </a:solidFill>
                  </a:tcPr>
                </a:tc>
                <a:tc>
                  <a:txBody>
                    <a:bodyPr wrap="square"/>
                    <a:lstStyle/>
                    <a:p>
                      <a:r>
                        <a:rPr sz="1100" b="0">
                          <a:solidFill>
                            <a:srgbClr val="282828"/>
                          </a:solidFill>
                          <a:latin typeface="Arial"/>
                        </a:rPr>
                        <a:t>8810</a:t>
                      </a:r>
                    </a:p>
                  </a:txBody>
                  <a:tcPr marL="54864" marR="54864" marT="18288" marB="18288">
                    <a:solidFill>
                      <a:srgbClr val="ECF1F6"/>
                    </a:solidFill>
                  </a:tcPr>
                </a:tc>
                <a:tc>
                  <a:txBody>
                    <a:bodyPr wrap="square"/>
                    <a:lstStyle/>
                    <a:p>
                      <a:r>
                        <a:rPr sz="1100" b="0">
                          <a:solidFill>
                            <a:srgbClr val="282828"/>
                          </a:solidFill>
                          <a:latin typeface="Arial"/>
                        </a:rPr>
                        <a:t>9664.11</a:t>
                      </a:r>
                    </a:p>
                  </a:txBody>
                  <a:tcPr marL="54864" marR="54864" marT="18288" marB="18288">
                    <a:solidFill>
                      <a:srgbClr val="ECF1F6"/>
                    </a:solidFill>
                  </a:tcPr>
                </a:tc>
                <a:tc>
                  <a:txBody>
                    <a:bodyPr wrap="square"/>
                    <a:lstStyle/>
                    <a:p>
                      <a:r>
                        <a:rPr sz="1100" b="0">
                          <a:solidFill>
                            <a:srgbClr val="282828"/>
                          </a:solidFill>
                          <a:latin typeface="Arial"/>
                        </a:rPr>
                        <a:t>1.097</a:t>
                      </a:r>
                    </a:p>
                  </a:txBody>
                  <a:tcPr marL="54864" marR="54864" marT="18288" marB="18288">
                    <a:solidFill>
                      <a:srgbClr val="ECF1F6"/>
                    </a:solidFill>
                  </a:tcPr>
                </a:tc>
                <a:tc>
                  <a:txBody>
                    <a:bodyPr wrap="square"/>
                    <a:lstStyle/>
                    <a:p>
                      <a:r>
                        <a:rPr sz="1100" b="0">
                          <a:solidFill>
                            <a:srgbClr val="282828"/>
                          </a:solidFill>
                          <a:latin typeface="Arial"/>
                        </a:rPr>
                        <a:t>PASS</a:t>
                      </a:r>
                    </a:p>
                  </a:txBody>
                  <a:tcPr marL="54864" marR="54864" marT="18288" marB="18288">
                    <a:solidFill>
                      <a:srgbClr val="ECF1F6"/>
                    </a:solidFill>
                  </a:tcPr>
                </a:tc>
              </a:tr>
              <a:tr h="280035">
                <a:tc>
                  <a:txBody>
                    <a:bodyPr wrap="square"/>
                    <a:lstStyle/>
                    <a:p>
                      <a:r>
                        <a:rPr sz="1100" b="0">
                          <a:solidFill>
                            <a:srgbClr val="282828"/>
                          </a:solidFill>
                          <a:latin typeface="Arial"/>
                        </a:rPr>
                        <a:t>r3</a:t>
                      </a:r>
                    </a:p>
                  </a:txBody>
                  <a:tcPr marL="54864" marR="54864" marT="18288" marB="18288">
                    <a:solidFill>
                      <a:srgbClr val="FFFFFF"/>
                    </a:solidFill>
                  </a:tcPr>
                </a:tc>
                <a:tc>
                  <a:txBody>
                    <a:bodyPr wrap="square"/>
                    <a:lstStyle/>
                    <a:p>
                      <a:r>
                        <a:rPr sz="1100" b="0">
                          <a:solidFill>
                            <a:srgbClr val="282828"/>
                          </a:solidFill>
                          <a:latin typeface="Arial"/>
                        </a:rPr>
                        <a:t>168</a:t>
                      </a:r>
                    </a:p>
                  </a:txBody>
                  <a:tcPr marL="54864" marR="54864" marT="18288" marB="18288">
                    <a:solidFill>
                      <a:srgbClr val="FFFFFF"/>
                    </a:solidFill>
                  </a:tcPr>
                </a:tc>
                <a:tc>
                  <a:txBody>
                    <a:bodyPr wrap="square"/>
                    <a:lstStyle/>
                    <a:p>
                      <a:r>
                        <a:rPr sz="1100" b="0">
                          <a:solidFill>
                            <a:srgbClr val="282828"/>
                          </a:solidFill>
                          <a:latin typeface="Arial"/>
                        </a:rPr>
                        <a:t>166.32</a:t>
                      </a:r>
                    </a:p>
                  </a:txBody>
                  <a:tcPr marL="54864" marR="54864" marT="18288" marB="18288">
                    <a:solidFill>
                      <a:srgbClr val="FFFFFF"/>
                    </a:solidFill>
                  </a:tcPr>
                </a:tc>
                <a:tc>
                  <a:txBody>
                    <a:bodyPr wrap="square"/>
                    <a:lstStyle/>
                    <a:p>
                      <a:r>
                        <a:rPr sz="1100" b="0">
                          <a:solidFill>
                            <a:srgbClr val="282828"/>
                          </a:solidFill>
                          <a:latin typeface="Arial"/>
                        </a:rPr>
                        <a:t>0.990</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117</a:t>
                      </a:r>
                    </a:p>
                  </a:txBody>
                  <a:tcPr marL="54864" marR="54864" marT="18288" marB="18288">
                    <a:solidFill>
                      <a:srgbClr val="ECF1F6"/>
                    </a:solidFill>
                  </a:tcPr>
                </a:tc>
                <a:tc>
                  <a:txBody>
                    <a:bodyPr wrap="square"/>
                    <a:lstStyle/>
                    <a:p>
                      <a:r>
                        <a:rPr sz="1100" b="0">
                          <a:solidFill>
                            <a:srgbClr val="282828"/>
                          </a:solidFill>
                          <a:latin typeface="Arial"/>
                        </a:rPr>
                        <a:t>124.29</a:t>
                      </a:r>
                    </a:p>
                  </a:txBody>
                  <a:tcPr marL="54864" marR="54864" marT="18288" marB="18288">
                    <a:solidFill>
                      <a:srgbClr val="ECF1F6"/>
                    </a:solidFill>
                  </a:tcPr>
                </a:tc>
                <a:tc>
                  <a:txBody>
                    <a:bodyPr wrap="square"/>
                    <a:lstStyle/>
                    <a:p>
                      <a:r>
                        <a:rPr sz="1100" b="0">
                          <a:solidFill>
                            <a:srgbClr val="282828"/>
                          </a:solidFill>
                          <a:latin typeface="Arial"/>
                        </a:rPr>
                        <a:t>1.062</a:t>
                      </a:r>
                    </a:p>
                  </a:txBody>
                  <a:tcPr marL="54864" marR="54864" marT="18288" marB="18288">
                    <a:solidFill>
                      <a:srgbClr val="ECF1F6"/>
                    </a:solidFill>
                  </a:tcPr>
                </a:tc>
                <a:tc>
                  <a:txBody>
                    <a:bodyPr wrap="square"/>
                    <a:lstStyle/>
                    <a:p>
                      <a:r>
                        <a:rPr sz="1100" b="0">
                          <a:solidFill>
                            <a:srgbClr val="282828"/>
                          </a:solidFill>
                          <a:latin typeface="Arial"/>
                        </a:rPr>
                        <a:t>PASS</a:t>
                      </a:r>
                    </a:p>
                  </a:txBody>
                  <a:tcPr marL="54864" marR="54864" marT="18288" marB="18288">
                    <a:solidFill>
                      <a:srgbClr val="ECF1F6"/>
                    </a:solidFill>
                  </a:tcPr>
                </a:tc>
              </a:tr>
              <a:tr h="280035">
                <a:tc>
                  <a:txBody>
                    <a:bodyPr wrap="square"/>
                    <a:lstStyle/>
                    <a:p>
                      <a:r>
                        <a:rPr sz="1100" b="0">
                          <a:solidFill>
                            <a:srgbClr val="282828"/>
                          </a:solidFill>
                          <a:latin typeface="Arial"/>
                        </a:rPr>
                        <a:t>r5</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54.66</a:t>
                      </a:r>
                    </a:p>
                  </a:txBody>
                  <a:tcPr marL="54864" marR="54864" marT="18288" marB="18288">
                    <a:solidFill>
                      <a:srgbClr val="FFFFFF"/>
                    </a:solidFill>
                  </a:tcPr>
                </a:tc>
                <a:tc>
                  <a:txBody>
                    <a:bodyPr wrap="square"/>
                    <a:lstStyle/>
                    <a:p>
                      <a:r>
                        <a:rPr sz="1100" b="0">
                          <a:solidFill>
                            <a:srgbClr val="282828"/>
                          </a:solidFill>
                          <a:latin typeface="Arial"/>
                        </a:rPr>
                        <a:t>1.031</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200" b="0">
                <a:solidFill>
                  <a:srgbClr val="282828"/>
                </a:solidFill>
                <a:latin typeface="Arial"/>
              </a:rPr>
              <a:t>•  The gates run in the committed regression suite (tRodgers3, coarsened 5x5 maps), so the reproduction cannot silently rot.</a:t>
            </a:r>
          </a:p>
        </p:txBody>
      </p:sp>
      <p:sp>
        <p:nvSpPr>
          <p:cNvPr id="6" name="TextBox 5"/>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Conventions decoded to get there, each pinned by its own test: aspheric-coefficient sign and units; the Zernike set is Born&amp;Wolf with a one-term index offset (negative control: dropping the offset misses rung 5 by 2989x); decenters verbatim with the tilt sense flipped; native stop aiming confirmed by A/B to 0.04 nm.</a:t>
            </a:r>
          </a:p>
          <a:p>
            <a:pPr>
              <a:spcAft>
                <a:spcPts val="600"/>
              </a:spcAft>
            </a:pPr>
            <a:r>
              <a:rPr sz="1200" b="0">
                <a:solidFill>
                  <a:srgbClr val="282828"/>
                </a:solidFill>
                <a:latin typeface="Arial"/>
              </a:rPr>
              <a:t>•  The reproduction is the licence for every comparison that follows: same metric, same statistic, same field sampling on both sides.</a:t>
            </a:r>
          </a:p>
        </p:txBody>
      </p:sp>
      <p:sp>
        <p:nvSpPr>
          <p:cNvPr id="7" name="TextBox 6"/>
          <p:cNvSpPr txBox="1"/>
          <p:nvPr/>
        </p:nvSpPr>
        <p:spPr>
          <a:xfrm>
            <a:off x="411480" y="3697986"/>
            <a:ext cx="11368735" cy="274320"/>
          </a:xfrm>
          <a:prstGeom prst="rect">
            <a:avLst/>
          </a:prstGeom>
          <a:noFill/>
        </p:spPr>
        <p:txBody>
          <a:bodyPr wrap="square">
            <a:spAutoFit/>
          </a:bodyPr>
          <a:lstStyle/>
          <a:p>
            <a:pPr>
              <a:spcAft>
                <a:spcPts val="600"/>
              </a:spcAft>
            </a:pPr>
            <a:r>
              <a:rPr sz="1050" b="0">
                <a:solidFill>
                  <a:srgbClr val="6E6E6E"/>
                </a:solidFill>
                <a:latin typeface="Arial"/>
              </a:rPr>
              <a:t>strict RMS WFE, centroid reference on the stage's frozen focal plane, exit-pupil anchor, piston-only removal; quoted statistic = dense 11x11 map MAXIMUM over the field box.  Known bounded approximation: the uniform pupil bundle vs CODE V's stop-gridded rays inflates the r2/r4 maps and the map minima slightly (full list: r3_s0_report.txt).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3 — The template</a:t>
            </a:r>
          </a:p>
          <a:p>
            <a:pPr>
              <a:spcAft>
                <a:spcPts val="0"/>
              </a:spcAft>
            </a:pPr>
            <a:r>
              <a:rPr sz="1250" b="0">
                <a:solidFill>
                  <a:srgbClr val="6E6E6E"/>
                </a:solidFill>
                <a:latin typeface="Arial"/>
              </a:rPr>
              <a:t>offset_imager: one parameterized flow — five stages, first-order identities re-derived at every iterate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11480" y="1298448"/>
            <a:ext cx="5806440" cy="713232"/>
          </a:xfrm>
          <a:prstGeom prst="roundRect">
            <a:avLst>
              <a:gd name="adj" fmla="val 10000"/>
            </a:avLst>
          </a:prstGeom>
          <a:solidFill>
            <a:srgbClr val="ECF1F6"/>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Aft>
                <a:spcPts val="100"/>
              </a:spcAft>
            </a:pPr>
            <a:r>
              <a:rPr sz="1150" b="1">
                <a:solidFill>
                  <a:srgbClr val="282828"/>
                </a:solidFill>
                <a:latin typeface="Arial"/>
              </a:rPr>
              <a:t>S1 · coaxial solve</a:t>
            </a:r>
          </a:p>
          <a:p>
            <a:pPr algn="ctr">
              <a:spcAft>
                <a:spcPts val="0"/>
              </a:spcAft>
            </a:pPr>
            <a:r>
              <a:rPr sz="1000" b="0">
                <a:solidFill>
                  <a:srgbClr val="282828"/>
                </a:solidFill>
                <a:latin typeface="Arial"/>
              </a:rPr>
              <a:t>first-order seed (EFL = EPD x F#, Petzval = 0), then conics + aspheres at the on-axis box</a:t>
            </a:r>
          </a:p>
        </p:txBody>
      </p:sp>
      <p:sp>
        <p:nvSpPr>
          <p:cNvPr id="5" name="Down Arrow 4"/>
          <p:cNvSpPr/>
          <p:nvPr/>
        </p:nvSpPr>
        <p:spPr>
          <a:xfrm>
            <a:off x="3232404" y="1993392"/>
            <a:ext cx="164592" cy="164592"/>
          </a:xfrm>
          <a:prstGeom prst="downArrow">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11480" y="2139696"/>
            <a:ext cx="5806440" cy="713232"/>
          </a:xfrm>
          <a:prstGeom prst="roundRect">
            <a:avLst>
              <a:gd name="adj" fmla="val 10000"/>
            </a:avLst>
          </a:prstGeom>
          <a:solidFill>
            <a:srgbClr val="ECF1F6"/>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Aft>
                <a:spcPts val="100"/>
              </a:spcAft>
            </a:pPr>
            <a:r>
              <a:rPr sz="1150" b="1">
                <a:solidFill>
                  <a:srgbClr val="282828"/>
                </a:solidFill>
                <a:latin typeface="Arial"/>
              </a:rPr>
              <a:t>S2 · the move</a:t>
            </a:r>
          </a:p>
          <a:p>
            <a:pPr algn="ctr">
              <a:spcAft>
                <a:spcPts val="0"/>
              </a:spcAft>
            </a:pPr>
            <a:r>
              <a:rPr sz="1000" b="0">
                <a:solidFill>
                  <a:srgbClr val="282828"/>
                </a:solidFill>
                <a:latin typeface="Arial"/>
              </a:rPr>
              <a:t>the same mirrors at the offset box; only the focal plane follows</a:t>
            </a:r>
          </a:p>
        </p:txBody>
      </p:sp>
      <p:sp>
        <p:nvSpPr>
          <p:cNvPr id="7" name="Down Arrow 6"/>
          <p:cNvSpPr/>
          <p:nvPr/>
        </p:nvSpPr>
        <p:spPr>
          <a:xfrm>
            <a:off x="3232404" y="2834640"/>
            <a:ext cx="164592" cy="164592"/>
          </a:xfrm>
          <a:prstGeom prst="downArrow">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11480" y="2980944"/>
            <a:ext cx="5806440" cy="713232"/>
          </a:xfrm>
          <a:prstGeom prst="roundRect">
            <a:avLst>
              <a:gd name="adj" fmla="val 10000"/>
            </a:avLst>
          </a:prstGeom>
          <a:solidFill>
            <a:srgbClr val="ECF1F6"/>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Aft>
                <a:spcPts val="100"/>
              </a:spcAft>
            </a:pPr>
            <a:r>
              <a:rPr sz="1150" b="1">
                <a:solidFill>
                  <a:srgbClr val="282828"/>
                </a:solidFill>
                <a:latin typeface="Arial"/>
              </a:rPr>
              <a:t>S3 · re-solve at the used field</a:t>
            </a:r>
          </a:p>
          <a:p>
            <a:pPr algn="ctr">
              <a:spcAft>
                <a:spcPts val="0"/>
              </a:spcAft>
            </a:pPr>
            <a:r>
              <a:rPr sz="1000" b="0">
                <a:solidFill>
                  <a:srgbClr val="282828"/>
                </a:solidFill>
                <a:latin typeface="Arial"/>
              </a:rPr>
              <a:t>symmetric surfaces re-solved at the offset, from the better of two starts</a:t>
            </a:r>
          </a:p>
        </p:txBody>
      </p:sp>
      <p:sp>
        <p:nvSpPr>
          <p:cNvPr id="9" name="Down Arrow 8"/>
          <p:cNvSpPr/>
          <p:nvPr/>
        </p:nvSpPr>
        <p:spPr>
          <a:xfrm>
            <a:off x="3232404" y="3675888"/>
            <a:ext cx="164592" cy="164592"/>
          </a:xfrm>
          <a:prstGeom prst="downArrow">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11480" y="3822191"/>
            <a:ext cx="5806440" cy="713232"/>
          </a:xfrm>
          <a:prstGeom prst="roundRect">
            <a:avLst>
              <a:gd name="adj" fmla="val 10000"/>
            </a:avLst>
          </a:prstGeom>
          <a:solidFill>
            <a:srgbClr val="ECF1F6"/>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Aft>
                <a:spcPts val="100"/>
              </a:spcAft>
            </a:pPr>
            <a:r>
              <a:rPr sz="1150" b="1">
                <a:solidFill>
                  <a:srgbClr val="282828"/>
                </a:solidFill>
                <a:latin typeface="Arial"/>
              </a:rPr>
              <a:t>S4 · tilt/decenter under constraints</a:t>
            </a:r>
          </a:p>
          <a:p>
            <a:pPr algn="ctr">
              <a:spcAft>
                <a:spcPts val="0"/>
              </a:spcAft>
            </a:pPr>
            <a:r>
              <a:rPr sz="1000" b="0">
                <a:solidFill>
                  <a:srgbClr val="282828"/>
                </a:solidFill>
                <a:latin typeface="Arial"/>
              </a:rPr>
              <a:t>exit direction + clearances enter the solve as residual rows</a:t>
            </a:r>
          </a:p>
        </p:txBody>
      </p:sp>
      <p:sp>
        <p:nvSpPr>
          <p:cNvPr id="11" name="Down Arrow 10"/>
          <p:cNvSpPr/>
          <p:nvPr/>
        </p:nvSpPr>
        <p:spPr>
          <a:xfrm>
            <a:off x="3232404" y="4517136"/>
            <a:ext cx="164592" cy="164592"/>
          </a:xfrm>
          <a:prstGeom prst="downArrow">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4663440"/>
            <a:ext cx="5806440" cy="713232"/>
          </a:xfrm>
          <a:prstGeom prst="roundRect">
            <a:avLst>
              <a:gd name="adj" fmla="val 10000"/>
            </a:avLst>
          </a:prstGeom>
          <a:solidFill>
            <a:srgbClr val="ECF1F6"/>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spcAft>
                <a:spcPts val="100"/>
              </a:spcAft>
            </a:pPr>
            <a:r>
              <a:rPr sz="1150" b="1">
                <a:solidFill>
                  <a:srgbClr val="282828"/>
                </a:solidFill>
                <a:latin typeface="Arial"/>
              </a:rPr>
              <a:t>S5 · Zernike departures</a:t>
            </a:r>
          </a:p>
          <a:p>
            <a:pPr algn="ctr">
              <a:spcAft>
                <a:spcPts val="0"/>
              </a:spcAft>
            </a:pPr>
            <a:r>
              <a:rPr sz="1000" b="0">
                <a:solidFill>
                  <a:srgbClr val="282828"/>
                </a:solidFill>
                <a:latin typeface="Arial"/>
              </a:rPr>
              <a:t>aspheres replaced; power pinned to the radii, tilt to the pointing</a:t>
            </a:r>
          </a:p>
        </p:txBody>
      </p:sp>
      <p:sp>
        <p:nvSpPr>
          <p:cNvPr id="13" name="TextBox 12"/>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Identities are enforced by construction, not penalized: EFL exact at every iterate; Petzval zero in the symmetric stages; stop pose re-derived; focal plane re-posed per stage.</a:t>
            </a:r>
          </a:p>
          <a:p>
            <a:pPr>
              <a:spcAft>
                <a:spcPts val="600"/>
              </a:spcAft>
            </a:pPr>
            <a:r>
              <a:rPr sz="1200" b="0">
                <a:solidFill>
                  <a:srgbClr val="282828"/>
                </a:solidFill>
                <a:latin typeface="Arial"/>
              </a:rPr>
              <a:t>•  The solver is damped Gauss–Newton on per-ray strict-WFE residuals over a 3x3 solve grid; every reported number is scored on the dense map (solve set != scoring set).</a:t>
            </a:r>
          </a:p>
          <a:p>
            <a:pPr>
              <a:spcAft>
                <a:spcPts val="600"/>
              </a:spcAft>
            </a:pPr>
            <a:r>
              <a:rPr sz="1200" b="0">
                <a:solidFill>
                  <a:srgbClr val="282828"/>
                </a:solidFill>
                <a:latin typeface="Arial"/>
              </a:rPr>
              <a:t>•  One call runs the whole story — ladder, counter-designs, report: oi_story(params).  The challenge instance and a second instrument (slide 8) are the same code at different parameters.</a:t>
            </a:r>
          </a:p>
        </p:txBody>
      </p:sp>
      <p:sp>
        <p:nvSpPr>
          <p:cNvPr id="14" name="TextBox 13"/>
          <p:cNvSpPr txBox="1"/>
          <p:nvPr/>
        </p:nvSpPr>
        <p:spPr>
          <a:xfrm>
            <a:off x="6400800" y="3538727"/>
            <a:ext cx="5394960" cy="274320"/>
          </a:xfrm>
          <a:prstGeom prst="rect">
            <a:avLst/>
          </a:prstGeom>
          <a:noFill/>
        </p:spPr>
        <p:txBody>
          <a:bodyPr wrap="square">
            <a:spAutoFit/>
          </a:bodyPr>
          <a:lstStyle/>
          <a:p>
            <a:pPr>
              <a:spcAft>
                <a:spcPts val="600"/>
              </a:spcAft>
            </a:pPr>
            <a:r>
              <a:rPr sz="1050" b="0">
                <a:solidFill>
                  <a:srgbClr val="6E6E6E"/>
                </a:solidFill>
                <a:latin typeface="Arial"/>
              </a:rPr>
              <a:t>Template: templates/10_telescopes/offset_imager (committed, with per-stage reports and decks).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4 — Stages 1–3: solve, move, re-solve</a:t>
            </a:r>
          </a:p>
          <a:p>
            <a:pPr>
              <a:spcAft>
                <a:spcPts val="0"/>
              </a:spcAft>
            </a:pPr>
            <a:r>
              <a:rPr sz="1250" b="0">
                <a:solidFill>
                  <a:srgbClr val="6E6E6E"/>
                </a:solidFill>
                <a:latin typeface="Arial"/>
              </a:rPr>
              <a:t>Depth bought on axis is paid back at the offset; re-solving at the used field recovers 1205x</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S1, on-axis box: 37.8 nm map max (reported rung 1: 159).  The solve runs 4x deeper than the source rung — 13.5 µm to 23.7 nm qmean in 7 iterations.</a:t>
            </a:r>
          </a:p>
          <a:p>
            <a:pPr>
              <a:spcAft>
                <a:spcPts val="600"/>
              </a:spcAft>
            </a:pPr>
            <a:r>
              <a:rPr sz="1200" b="0">
                <a:solidFill>
                  <a:srgbClr val="282828"/>
                </a:solidFill>
                <a:latin typeface="Arial"/>
              </a:rPr>
              <a:t>•  S2, the same mirrors at 22°: 303,586 nm — 34x the reported 8810.  The deeper on-axis optimum pays proportionally more off axis: this rung measures the S1 design as much as the offset.</a:t>
            </a:r>
          </a:p>
          <a:p>
            <a:pPr>
              <a:spcAft>
                <a:spcPts val="600"/>
              </a:spcAft>
            </a:pPr>
            <a:r>
              <a:rPr sz="1200" b="0">
                <a:solidFill>
                  <a:srgbClr val="282828"/>
                </a:solidFill>
                <a:latin typeface="Arial"/>
              </a:rPr>
              <a:t>•  S3, re-solved at the used field: 252.0 nm (reported: 168, ratio 1.50).  The fresh Petzval-flat sphere seed (25.6 µm start) beats the carried on-axis aspheres as the starting point; the conics migrate to the oblate class (K1 -2.42 to 1.44).</a:t>
            </a:r>
          </a:p>
        </p:txBody>
      </p:sp>
      <p:pic>
        <p:nvPicPr>
          <p:cNvPr id="5" name="Picture 4" descr="r3t_s2_map.png"/>
          <p:cNvPicPr>
            <a:picLocks noChangeAspect="1"/>
          </p:cNvPicPr>
          <p:nvPr/>
        </p:nvPicPr>
        <p:blipFill>
          <a:blip r:embed="rId2"/>
          <a:stretch>
            <a:fillRect/>
          </a:stretch>
        </p:blipFill>
        <p:spPr>
          <a:xfrm>
            <a:off x="7862143" y="1298448"/>
            <a:ext cx="2472273" cy="2166620"/>
          </a:xfrm>
          <a:prstGeom prst="rect">
            <a:avLst/>
          </a:prstGeom>
        </p:spPr>
      </p:pic>
      <p:sp>
        <p:nvSpPr>
          <p:cNvPr id="6" name="TextBox 5"/>
          <p:cNvSpPr txBox="1"/>
          <p:nvPr/>
        </p:nvSpPr>
        <p:spPr>
          <a:xfrm>
            <a:off x="6400800" y="3483356"/>
            <a:ext cx="5394960" cy="229107"/>
          </a:xfrm>
          <a:prstGeom prst="rect">
            <a:avLst/>
          </a:prstGeom>
          <a:noFill/>
        </p:spPr>
        <p:txBody>
          <a:bodyPr wrap="square">
            <a:spAutoFit/>
          </a:bodyPr>
          <a:lstStyle/>
          <a:p>
            <a:pPr algn="ctr">
              <a:spcAft>
                <a:spcPts val="0"/>
              </a:spcAft>
            </a:pPr>
            <a:r>
              <a:rPr sz="1000" b="0">
                <a:solidFill>
                  <a:srgbClr val="6E6E6E"/>
                </a:solidFill>
                <a:latin typeface="Arial"/>
              </a:rPr>
              <a:t>S2: the price of moving the box with the design frozen.</a:t>
            </a:r>
          </a:p>
        </p:txBody>
      </p:sp>
      <p:pic>
        <p:nvPicPr>
          <p:cNvPr id="7" name="Picture 6" descr="r3t_s3_map.png"/>
          <p:cNvPicPr>
            <a:picLocks noChangeAspect="1"/>
          </p:cNvPicPr>
          <p:nvPr/>
        </p:nvPicPr>
        <p:blipFill>
          <a:blip r:embed="rId3"/>
          <a:stretch>
            <a:fillRect/>
          </a:stretch>
        </p:blipFill>
        <p:spPr>
          <a:xfrm>
            <a:off x="7798851" y="3749039"/>
            <a:ext cx="2598856" cy="2166620"/>
          </a:xfrm>
          <a:prstGeom prst="rect">
            <a:avLst/>
          </a:prstGeom>
        </p:spPr>
      </p:pic>
      <p:sp>
        <p:nvSpPr>
          <p:cNvPr id="8" name="TextBox 7"/>
          <p:cNvSpPr txBox="1"/>
          <p:nvPr/>
        </p:nvSpPr>
        <p:spPr>
          <a:xfrm>
            <a:off x="6400800" y="5933947"/>
            <a:ext cx="5394960" cy="229107"/>
          </a:xfrm>
          <a:prstGeom prst="rect">
            <a:avLst/>
          </a:prstGeom>
          <a:noFill/>
        </p:spPr>
        <p:txBody>
          <a:bodyPr wrap="square">
            <a:spAutoFit/>
          </a:bodyPr>
          <a:lstStyle/>
          <a:p>
            <a:pPr algn="ctr">
              <a:spcAft>
                <a:spcPts val="0"/>
              </a:spcAft>
            </a:pPr>
            <a:r>
              <a:rPr sz="1000" b="0">
                <a:solidFill>
                  <a:srgbClr val="6E6E6E"/>
                </a:solidFill>
                <a:latin typeface="Arial"/>
              </a:rPr>
              <a:t>S3: re-solved at the offset — the map max returns to the hundreds of nm.</a:t>
            </a:r>
          </a:p>
        </p:txBody>
      </p:sp>
      <p:sp>
        <p:nvSpPr>
          <p:cNvPr id="9" name="TextBox 8"/>
          <p:cNvSpPr txBox="1"/>
          <p:nvPr/>
        </p:nvSpPr>
        <p:spPr>
          <a:xfrm>
            <a:off x="6400800" y="6199631"/>
            <a:ext cx="5394960" cy="274320"/>
          </a:xfrm>
          <a:prstGeom prst="rect">
            <a:avLst/>
          </a:prstGeom>
          <a:noFill/>
        </p:spPr>
        <p:txBody>
          <a:bodyPr wrap="square">
            <a:spAutoFit/>
          </a:bodyPr>
          <a:lstStyle/>
          <a:p>
            <a:pPr>
              <a:spcAft>
                <a:spcPts val="600"/>
              </a:spcAft>
            </a:pPr>
            <a:r>
              <a:rPr sz="1050" b="0">
                <a:solidFill>
                  <a:srgbClr val="6E6E6E"/>
                </a:solidFill>
                <a:latin typeface="Arial"/>
              </a:rPr>
              <a:t>strict RMS WFE, centroid reference on the stage's frozen focal plane, exit-pupil anchor, piston-only removal; quoted statistic = dense 11x11 map MAXIMUM over the field box.  S1–S3 run unconstrained; their clearance floors (3 / 27 / 13 mm) are reported for context only.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5 — Stage 4, the buildability rung</a:t>
            </a:r>
          </a:p>
          <a:p>
            <a:pPr>
              <a:spcAft>
                <a:spcPts val="0"/>
              </a:spcAft>
            </a:pPr>
            <a:r>
              <a:rPr sz="1250" b="0">
                <a:solidFill>
                  <a:srgbClr val="6E6E6E"/>
                </a:solidFill>
                <a:latin typeface="Arial"/>
              </a:rPr>
              <a:t>Paying the same clearance constraint lands the same number: 113.6 nm at 34.1 mm vs the reported 117 at ≥ 35 — 0.97x</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Unconstrained, tilt/decenter reach 58.3 nm — with the M3-to-focal-plane beam through M2's patch (clearance floor 0.0 mm).  Not buildable.</a:t>
            </a:r>
          </a:p>
          <a:p>
            <a:pPr>
              <a:spcAft>
                <a:spcPts val="600"/>
              </a:spcAft>
            </a:pPr>
            <a:r>
              <a:rPr sz="1200" b="0">
                <a:solidFill>
                  <a:srgbClr val="282828"/>
                </a:solidFill>
                <a:latin typeface="Arial"/>
              </a:rPr>
              <a:t>•  The clearance model: nine beam-leg/obstacle pairs, per-field footprint disks over the box centre and YAN extremes, the focal plane counted as an obstacle.  The same model the solve pays as hinge residual rows and the report gates.</a:t>
            </a:r>
          </a:p>
          <a:p>
            <a:pPr>
              <a:spcAft>
                <a:spcPts val="600"/>
              </a:spcAft>
            </a:pPr>
            <a:r>
              <a:rPr sz="1200" b="0">
                <a:solidFill>
                  <a:srgbClr val="282828"/>
                </a:solidFill>
                <a:latin typeface="Arial"/>
              </a:rPr>
              <a:t>•  Two toolchains, same constraint, same answer to 3% — strong evidence both are measuring the same design space — and a clean measurement of what the clearance constraint costs: 1.9x in WFE at this rung (58.3 to 113.6 nm).</a:t>
            </a:r>
          </a:p>
          <a:p>
            <a:pPr>
              <a:spcAft>
                <a:spcPts val="600"/>
              </a:spcAft>
            </a:pPr>
            <a:r>
              <a:rPr sz="1200" b="0">
                <a:solidFill>
                  <a:srgbClr val="282828"/>
                </a:solidFill>
                <a:latin typeface="Arial"/>
              </a:rPr>
              <a:t>•  Exit chief within 0.03° of horizontal at every stage (the pin, solved as an equality row).</a:t>
            </a:r>
          </a:p>
        </p:txBody>
      </p:sp>
      <p:pic>
        <p:nvPicPr>
          <p:cNvPr id="5" name="Picture 4" descr="r3t_s4_fields.png"/>
          <p:cNvPicPr>
            <a:picLocks noChangeAspect="1"/>
          </p:cNvPicPr>
          <p:nvPr/>
        </p:nvPicPr>
        <p:blipFill>
          <a:blip r:embed="rId2"/>
          <a:stretch>
            <a:fillRect/>
          </a:stretch>
        </p:blipFill>
        <p:spPr>
          <a:xfrm>
            <a:off x="7554178" y="1298448"/>
            <a:ext cx="3088203" cy="2166620"/>
          </a:xfrm>
          <a:prstGeom prst="rect">
            <a:avLst/>
          </a:prstGeom>
        </p:spPr>
      </p:pic>
      <p:sp>
        <p:nvSpPr>
          <p:cNvPr id="6" name="TextBox 5"/>
          <p:cNvSpPr txBox="1"/>
          <p:nvPr/>
        </p:nvSpPr>
        <p:spPr>
          <a:xfrm>
            <a:off x="6400800" y="3483356"/>
            <a:ext cx="5394960" cy="229107"/>
          </a:xfrm>
          <a:prstGeom prst="rect">
            <a:avLst/>
          </a:prstGeom>
          <a:noFill/>
        </p:spPr>
        <p:txBody>
          <a:bodyPr wrap="square">
            <a:spAutoFit/>
          </a:bodyPr>
          <a:lstStyle/>
          <a:p>
            <a:pPr algn="ctr">
              <a:spcAft>
                <a:spcPts val="0"/>
              </a:spcAft>
            </a:pPr>
            <a:r>
              <a:rPr sz="1000" b="0">
                <a:solidFill>
                  <a:srgbClr val="6E6E6E"/>
                </a:solidFill>
                <a:latin typeface="Arial"/>
              </a:rPr>
              <a:t>S4 field envelopes: every beam leg clears every mirror edge (floor 34.1 mm).</a:t>
            </a:r>
          </a:p>
        </p:txBody>
      </p:sp>
      <p:pic>
        <p:nvPicPr>
          <p:cNvPr id="7" name="Picture 6" descr="r3t_s4_map.png"/>
          <p:cNvPicPr>
            <a:picLocks noChangeAspect="1"/>
          </p:cNvPicPr>
          <p:nvPr/>
        </p:nvPicPr>
        <p:blipFill>
          <a:blip r:embed="rId3"/>
          <a:stretch>
            <a:fillRect/>
          </a:stretch>
        </p:blipFill>
        <p:spPr>
          <a:xfrm>
            <a:off x="7849143" y="3749039"/>
            <a:ext cx="2498273" cy="2166620"/>
          </a:xfrm>
          <a:prstGeom prst="rect">
            <a:avLst/>
          </a:prstGeom>
        </p:spPr>
      </p:pic>
      <p:sp>
        <p:nvSpPr>
          <p:cNvPr id="8" name="TextBox 7"/>
          <p:cNvSpPr txBox="1"/>
          <p:nvPr/>
        </p:nvSpPr>
        <p:spPr>
          <a:xfrm>
            <a:off x="6400800" y="5933947"/>
            <a:ext cx="5394960" cy="229107"/>
          </a:xfrm>
          <a:prstGeom prst="rect">
            <a:avLst/>
          </a:prstGeom>
          <a:noFill/>
        </p:spPr>
        <p:txBody>
          <a:bodyPr wrap="square">
            <a:spAutoFit/>
          </a:bodyPr>
          <a:lstStyle/>
          <a:p>
            <a:pPr algn="ctr">
              <a:spcAft>
                <a:spcPts val="0"/>
              </a:spcAft>
            </a:pPr>
            <a:r>
              <a:rPr sz="1000" b="0">
                <a:solidFill>
                  <a:srgbClr val="6E6E6E"/>
                </a:solidFill>
                <a:latin typeface="Arial"/>
              </a:rPr>
              <a:t>S4 map: 113.6 nm max over the box.</a:t>
            </a:r>
          </a:p>
        </p:txBody>
      </p:sp>
      <p:sp>
        <p:nvSpPr>
          <p:cNvPr id="9" name="TextBox 8"/>
          <p:cNvSpPr txBox="1"/>
          <p:nvPr/>
        </p:nvSpPr>
        <p:spPr>
          <a:xfrm>
            <a:off x="6400800" y="6199631"/>
            <a:ext cx="5394960" cy="274320"/>
          </a:xfrm>
          <a:prstGeom prst="rect">
            <a:avLst/>
          </a:prstGeom>
          <a:noFill/>
        </p:spPr>
        <p:txBody>
          <a:bodyPr wrap="square">
            <a:spAutoFit/>
          </a:bodyPr>
          <a:lstStyle/>
          <a:p>
            <a:pPr>
              <a:spcAft>
                <a:spcPts val="600"/>
              </a:spcAft>
            </a:pPr>
            <a:r>
              <a:rPr sz="1050" b="0">
                <a:solidFill>
                  <a:srgbClr val="6E6E6E"/>
                </a:solidFill>
                <a:latin typeface="Arial"/>
              </a:rPr>
              <a:t>strict RMS WFE, centroid reference on the stage's frozen focal plane, exit-pupil anchor, piston-only removal; quoted statistic = dense 11x11 map MAXIMUM over the field box.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6 — Stage 5, the honest rung</a:t>
            </a:r>
          </a:p>
          <a:p>
            <a:pPr>
              <a:spcAft>
                <a:spcPts val="0"/>
              </a:spcAft>
            </a:pPr>
            <a:r>
              <a:rPr sz="1250" b="0">
                <a:solidFill>
                  <a:srgbClr val="6E6E6E"/>
                </a:solidFill>
                <a:latin typeface="Arial"/>
              </a:rPr>
              <a:t>118.2 nm vs the reported 53 — a solver-budget gap, not physics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Adding the Zernike basis (the source study's own varied term set, 82 variables) under the clearance rows moves the ladder 113.6 to 118.2 nm: the stage stalls at its S4 level.  The min-rule branch value is 113.6.</a:t>
            </a:r>
          </a:p>
          <a:p>
            <a:pPr>
              <a:spcAft>
                <a:spcPts val="600"/>
              </a:spcAft>
            </a:pPr>
            <a:r>
              <a:rPr sz="1200" b="0">
                <a:solidFill>
                  <a:srgbClr val="282828"/>
                </a:solidFill>
                <a:latin typeface="Arial"/>
              </a:rPr>
              <a:t>•  The budget: a 3x3 solve grid and a 30-iteration cap against 82 variables plus the constraint rows.  The stage is convergence-limited — the gap to the reported 53 (2.2x) is solver budget, not convention, and one long-budget run is the named follow-on.</a:t>
            </a:r>
          </a:p>
          <a:p>
            <a:pPr>
              <a:spcAft>
                <a:spcPts val="600"/>
              </a:spcAft>
            </a:pPr>
            <a:r>
              <a:rPr sz="1200" b="0">
                <a:solidFill>
                  <a:srgbClr val="282828"/>
                </a:solidFill>
                <a:latin typeface="Arial"/>
              </a:rPr>
              <a:t>•  The term set is not the limit — slide 7, counter (b).</a:t>
            </a:r>
          </a:p>
        </p:txBody>
      </p:sp>
      <p:pic>
        <p:nvPicPr>
          <p:cNvPr id="5" name="Picture 4" descr="r3t_s5_map.png"/>
          <p:cNvPicPr>
            <a:picLocks noChangeAspect="1"/>
          </p:cNvPicPr>
          <p:nvPr/>
        </p:nvPicPr>
        <p:blipFill>
          <a:blip r:embed="rId2"/>
          <a:stretch>
            <a:fillRect/>
          </a:stretch>
        </p:blipFill>
        <p:spPr>
          <a:xfrm>
            <a:off x="7313287" y="1298448"/>
            <a:ext cx="3569984" cy="3062732"/>
          </a:xfrm>
          <a:prstGeom prst="rect">
            <a:avLst/>
          </a:prstGeom>
        </p:spPr>
      </p:pic>
      <p:sp>
        <p:nvSpPr>
          <p:cNvPr id="6" name="TextBox 5"/>
          <p:cNvSpPr txBox="1"/>
          <p:nvPr/>
        </p:nvSpPr>
        <p:spPr>
          <a:xfrm>
            <a:off x="6400800" y="4379467"/>
            <a:ext cx="5394960" cy="229107"/>
          </a:xfrm>
          <a:prstGeom prst="rect">
            <a:avLst/>
          </a:prstGeom>
          <a:noFill/>
        </p:spPr>
        <p:txBody>
          <a:bodyPr wrap="square">
            <a:spAutoFit/>
          </a:bodyPr>
          <a:lstStyle/>
          <a:p>
            <a:pPr algn="ctr">
              <a:spcAft>
                <a:spcPts val="0"/>
              </a:spcAft>
            </a:pPr>
            <a:r>
              <a:rPr sz="1000" b="0">
                <a:solidFill>
                  <a:srgbClr val="6E6E6E"/>
                </a:solidFill>
                <a:latin typeface="Arial"/>
              </a:rPr>
              <a:t>S5 map: 118.2 nm max; clearance floor 34.6 mm (PASS).</a:t>
            </a:r>
          </a:p>
        </p:txBody>
      </p:sp>
      <p:sp>
        <p:nvSpPr>
          <p:cNvPr id="7" name="TextBox 6"/>
          <p:cNvSpPr txBox="1"/>
          <p:nvPr/>
        </p:nvSpPr>
        <p:spPr>
          <a:xfrm>
            <a:off x="6400800" y="4645151"/>
            <a:ext cx="5394960" cy="274320"/>
          </a:xfrm>
          <a:prstGeom prst="rect">
            <a:avLst/>
          </a:prstGeom>
          <a:noFill/>
        </p:spPr>
        <p:txBody>
          <a:bodyPr wrap="square">
            <a:spAutoFit/>
          </a:bodyPr>
          <a:lstStyle/>
          <a:p>
            <a:pPr>
              <a:spcAft>
                <a:spcPts val="600"/>
              </a:spcAft>
            </a:pPr>
            <a:r>
              <a:rPr sz="1050" b="0">
                <a:solidFill>
                  <a:srgbClr val="6E6E6E"/>
                </a:solidFill>
                <a:latin typeface="Arial"/>
              </a:rPr>
              <a:t>strict RMS WFE, centroid reference on the stage's frozen focal plane, exit-pupil anchor, piston-only removal; quoted statistic = dense 11x11 map MAXIMUM over the field box.</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7 — Counter-designs, same constraints, same budget</a:t>
            </a:r>
          </a:p>
          <a:p>
            <a:pPr>
              <a:spcAft>
                <a:spcPts val="0"/>
              </a:spcAft>
            </a:pPr>
            <a:r>
              <a:rPr sz="1250" b="0">
                <a:solidFill>
                  <a:srgbClr val="6E6E6E"/>
                </a:solidFill>
                <a:latin typeface="Arial"/>
              </a:rPr>
              <a:t>The sphere+Zernike start wins 1.6x; releasing the pinned terms chokes the solve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 Sphere + Zernike from the start — S3's radii, conics zeroed, no aspheres, straight to the Zernike solve: 73.1 nm map max, against the heritage path's 118.2 under identical constraint rows and iteration budget.  The asphere heritage is a burden, not a head start.  The unconstrained variant of this branch (27.9 nm) does not survive buildability.</a:t>
            </a:r>
          </a:p>
          <a:p>
            <a:pPr>
              <a:spcAft>
                <a:spcPts val="600"/>
              </a:spcAft>
            </a:pPr>
            <a:r>
              <a:rPr sz="1200" b="0">
                <a:solidFill>
                  <a:srgbClr val="282828"/>
                </a:solidFill>
                <a:latin typeface="Arial"/>
              </a:rPr>
              <a:t>•  (b) Power and y-tilt released into the Zernike basis from the S4 design: 1372.9 nm — far worse than the pinned set.  The freed modes fight the jobs the pins already do (power held by the radii, tilt by the pointing); 88 variables against 9 solve fields plus constraint rows.  No evidence the reported 53 nm is term-set-limited — and affirmative evidence for the pinning doctrine at finite solver budget.</a:t>
            </a:r>
          </a:p>
        </p:txBody>
      </p:sp>
      <p:pic>
        <p:nvPicPr>
          <p:cNvPr id="5" name="Picture 4" descr="r3t_ca_map.png"/>
          <p:cNvPicPr>
            <a:picLocks noChangeAspect="1"/>
          </p:cNvPicPr>
          <p:nvPr/>
        </p:nvPicPr>
        <p:blipFill>
          <a:blip r:embed="rId2"/>
          <a:stretch>
            <a:fillRect/>
          </a:stretch>
        </p:blipFill>
        <p:spPr>
          <a:xfrm>
            <a:off x="7862735" y="1298448"/>
            <a:ext cx="2471088" cy="2166620"/>
          </a:xfrm>
          <a:prstGeom prst="rect">
            <a:avLst/>
          </a:prstGeom>
        </p:spPr>
      </p:pic>
      <p:sp>
        <p:nvSpPr>
          <p:cNvPr id="6" name="TextBox 5"/>
          <p:cNvSpPr txBox="1"/>
          <p:nvPr/>
        </p:nvSpPr>
        <p:spPr>
          <a:xfrm>
            <a:off x="6400800" y="3483356"/>
            <a:ext cx="5394960" cy="229107"/>
          </a:xfrm>
          <a:prstGeom prst="rect">
            <a:avLst/>
          </a:prstGeom>
          <a:noFill/>
        </p:spPr>
        <p:txBody>
          <a:bodyPr wrap="square">
            <a:spAutoFit/>
          </a:bodyPr>
          <a:lstStyle/>
          <a:p>
            <a:pPr algn="ctr">
              <a:spcAft>
                <a:spcPts val="0"/>
              </a:spcAft>
            </a:pPr>
            <a:r>
              <a:rPr sz="1000" b="0">
                <a:solidFill>
                  <a:srgbClr val="6E6E6E"/>
                </a:solidFill>
                <a:latin typeface="Arial"/>
              </a:rPr>
              <a:t>Counter (a): the sphere+Zernike start under the full constraint set — 73.1 nm.</a:t>
            </a:r>
          </a:p>
        </p:txBody>
      </p:sp>
      <p:pic>
        <p:nvPicPr>
          <p:cNvPr id="7" name="Picture 6" descr="r3t_cb_map.png"/>
          <p:cNvPicPr>
            <a:picLocks noChangeAspect="1"/>
          </p:cNvPicPr>
          <p:nvPr/>
        </p:nvPicPr>
        <p:blipFill>
          <a:blip r:embed="rId3"/>
          <a:stretch>
            <a:fillRect/>
          </a:stretch>
        </p:blipFill>
        <p:spPr>
          <a:xfrm>
            <a:off x="7813803" y="3749039"/>
            <a:ext cx="2568953" cy="2166620"/>
          </a:xfrm>
          <a:prstGeom prst="rect">
            <a:avLst/>
          </a:prstGeom>
        </p:spPr>
      </p:pic>
      <p:sp>
        <p:nvSpPr>
          <p:cNvPr id="8" name="TextBox 7"/>
          <p:cNvSpPr txBox="1"/>
          <p:nvPr/>
        </p:nvSpPr>
        <p:spPr>
          <a:xfrm>
            <a:off x="6400800" y="5933947"/>
            <a:ext cx="5394960" cy="229107"/>
          </a:xfrm>
          <a:prstGeom prst="rect">
            <a:avLst/>
          </a:prstGeom>
          <a:noFill/>
        </p:spPr>
        <p:txBody>
          <a:bodyPr wrap="square">
            <a:spAutoFit/>
          </a:bodyPr>
          <a:lstStyle/>
          <a:p>
            <a:pPr algn="ctr">
              <a:spcAft>
                <a:spcPts val="0"/>
              </a:spcAft>
            </a:pPr>
            <a:r>
              <a:rPr sz="1000" b="0">
                <a:solidFill>
                  <a:srgbClr val="6E6E6E"/>
                </a:solidFill>
                <a:latin typeface="Arial"/>
              </a:rPr>
              <a:t>Counter (b): power + y-tilt released — 1373 nm; the solve chokes.</a:t>
            </a:r>
          </a:p>
        </p:txBody>
      </p:sp>
      <p:sp>
        <p:nvSpPr>
          <p:cNvPr id="9" name="TextBox 8"/>
          <p:cNvSpPr txBox="1"/>
          <p:nvPr/>
        </p:nvSpPr>
        <p:spPr>
          <a:xfrm>
            <a:off x="6400800" y="6199631"/>
            <a:ext cx="5394960" cy="274320"/>
          </a:xfrm>
          <a:prstGeom prst="rect">
            <a:avLst/>
          </a:prstGeom>
          <a:noFill/>
        </p:spPr>
        <p:txBody>
          <a:bodyPr wrap="square">
            <a:spAutoFit/>
          </a:bodyPr>
          <a:lstStyle/>
          <a:p>
            <a:pPr>
              <a:spcAft>
                <a:spcPts val="600"/>
              </a:spcAft>
            </a:pPr>
            <a:r>
              <a:rPr sz="1050" b="0">
                <a:solidFill>
                  <a:srgbClr val="6E6E6E"/>
                </a:solidFill>
                <a:latin typeface="Arial"/>
              </a:rPr>
              <a:t>strict RMS WFE, centroid reference on the stage's frozen focal plane, exit-pupil anchor, piston-only removal; quoted statistic = dense 11x11 map MAXIMUM over the field box.</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8 — The same template on a second instrument</a:t>
            </a:r>
          </a:p>
          <a:p>
            <a:pPr>
              <a:spcAft>
                <a:spcPts val="0"/>
              </a:spcAft>
            </a:pPr>
            <a:r>
              <a:rPr sz="1250" b="0">
                <a:solidFill>
                  <a:srgbClr val="6E6E6E"/>
                </a:solidFill>
                <a:latin typeface="Arial"/>
              </a:rPr>
              <a:t>EPD 200 mm, F/2.5, 10°x10° at 12°, its own 10/5 mm clearance spec: every stage gates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1680210"/>
        </p:xfrm>
        <a:graphic>
          <a:graphicData uri="http://schemas.openxmlformats.org/drawingml/2006/table">
            <a:tbl>
              <a:tblPr firstRow="1" bandRow="1">
                <a:tableStyleId>{5C22544A-7EE6-4342-B048-85BDC9FD1C3A}</a:tableStyleId>
              </a:tblPr>
              <a:tblGrid>
                <a:gridCol w="936522"/>
                <a:gridCol w="2247654"/>
                <a:gridCol w="2622263"/>
              </a:tblGrid>
              <a:tr h="280035">
                <a:tc>
                  <a:txBody>
                    <a:bodyPr wrap="square"/>
                    <a:lstStyle/>
                    <a:p>
                      <a:r>
                        <a:rPr sz="1100" b="1">
                          <a:solidFill>
                            <a:srgbClr val="FFFFFF"/>
                          </a:solidFill>
                          <a:latin typeface="Arial"/>
                        </a:rPr>
                        <a:t>stage</a:t>
                      </a:r>
                    </a:p>
                  </a:txBody>
                  <a:tcPr marL="54864" marR="54864" marT="18288" marB="18288">
                    <a:solidFill>
                      <a:srgbClr val="1F4E79"/>
                    </a:solidFill>
                  </a:tcPr>
                </a:tc>
                <a:tc>
                  <a:txBody>
                    <a:bodyPr wrap="square"/>
                    <a:lstStyle/>
                    <a:p>
                      <a:r>
                        <a:rPr sz="1100" b="1">
                          <a:solidFill>
                            <a:srgbClr val="FFFFFF"/>
                          </a:solidFill>
                          <a:latin typeface="Arial"/>
                        </a:rPr>
                        <a:t>map max (nm)</a:t>
                      </a:r>
                    </a:p>
                  </a:txBody>
                  <a:tcPr marL="54864" marR="54864" marT="18288" marB="18288">
                    <a:solidFill>
                      <a:srgbClr val="1F4E79"/>
                    </a:solidFill>
                  </a:tcPr>
                </a:tc>
                <a:tc>
                  <a:txBody>
                    <a:bodyPr wrap="square"/>
                    <a:lstStyle/>
                    <a:p>
                      <a:r>
                        <a:rPr sz="1100" b="1">
                          <a:solidFill>
                            <a:srgbClr val="FFFFFF"/>
                          </a:solidFill>
                          <a:latin typeface="Arial"/>
                        </a:rPr>
                        <a:t>clearance (mm)</a:t>
                      </a:r>
                    </a:p>
                  </a:txBody>
                  <a:tcPr marL="54864" marR="54864" marT="18288" marB="18288">
                    <a:solidFill>
                      <a:srgbClr val="1F4E79"/>
                    </a:solidFill>
                  </a:tcPr>
                </a:tc>
              </a:tr>
              <a:tr h="280035">
                <a:tc>
                  <a:txBody>
                    <a:bodyPr wrap="square"/>
                    <a:lstStyle/>
                    <a:p>
                      <a:r>
                        <a:rPr sz="1100" b="0">
                          <a:solidFill>
                            <a:srgbClr val="282828"/>
                          </a:solidFill>
                          <a:latin typeface="Arial"/>
                        </a:rPr>
                        <a:t>S1</a:t>
                      </a:r>
                    </a:p>
                  </a:txBody>
                  <a:tcPr marL="54864" marR="54864" marT="18288" marB="18288">
                    <a:solidFill>
                      <a:srgbClr val="FFFFFF"/>
                    </a:solidFill>
                  </a:tcPr>
                </a:tc>
                <a:tc>
                  <a:txBody>
                    <a:bodyPr wrap="square"/>
                    <a:lstStyle/>
                    <a:p>
                      <a:r>
                        <a:rPr sz="1100" b="0">
                          <a:solidFill>
                            <a:srgbClr val="282828"/>
                          </a:solidFill>
                          <a:latin typeface="Arial"/>
                        </a:rPr>
                        <a:t>30.0</a:t>
                      </a:r>
                    </a:p>
                  </a:txBody>
                  <a:tcPr marL="54864" marR="54864" marT="18288" marB="18288">
                    <a:solidFill>
                      <a:srgbClr val="FFFFFF"/>
                    </a:solidFill>
                  </a:tcPr>
                </a:tc>
                <a:tc>
                  <a:txBody>
                    <a:bodyPr wrap="square"/>
                    <a:lstStyle/>
                    <a:p>
                      <a:r>
                        <a:rPr sz="1100" b="0">
                          <a:solidFill>
                            <a:srgbClr val="282828"/>
                          </a:solidFill>
                          <a:latin typeface="Arial"/>
                        </a:rPr>
                        <a:t>9.5</a:t>
                      </a:r>
                    </a:p>
                  </a:txBody>
                  <a:tcPr marL="54864" marR="54864" marT="18288" marB="18288">
                    <a:solidFill>
                      <a:srgbClr val="FFFFFF"/>
                    </a:solidFill>
                  </a:tcPr>
                </a:tc>
              </a:tr>
              <a:tr h="280035">
                <a:tc>
                  <a:txBody>
                    <a:bodyPr wrap="square"/>
                    <a:lstStyle/>
                    <a:p>
                      <a:r>
                        <a:rPr sz="1100" b="0">
                          <a:solidFill>
                            <a:srgbClr val="282828"/>
                          </a:solidFill>
                          <a:latin typeface="Arial"/>
                        </a:rPr>
                        <a:t>S2</a:t>
                      </a:r>
                    </a:p>
                  </a:txBody>
                  <a:tcPr marL="54864" marR="54864" marT="18288" marB="18288">
                    <a:solidFill>
                      <a:srgbClr val="ECF1F6"/>
                    </a:solidFill>
                  </a:tcPr>
                </a:tc>
                <a:tc>
                  <a:txBody>
                    <a:bodyPr wrap="square"/>
                    <a:lstStyle/>
                    <a:p>
                      <a:r>
                        <a:rPr sz="1100" b="0">
                          <a:solidFill>
                            <a:srgbClr val="282828"/>
                          </a:solidFill>
                          <a:latin typeface="Arial"/>
                        </a:rPr>
                        <a:t>942.1</a:t>
                      </a:r>
                    </a:p>
                  </a:txBody>
                  <a:tcPr marL="54864" marR="54864" marT="18288" marB="18288">
                    <a:solidFill>
                      <a:srgbClr val="ECF1F6"/>
                    </a:solidFill>
                  </a:tcPr>
                </a:tc>
                <a:tc>
                  <a:txBody>
                    <a:bodyPr wrap="square"/>
                    <a:lstStyle/>
                    <a:p>
                      <a:r>
                        <a:rPr sz="1100" b="0">
                          <a:solidFill>
                            <a:srgbClr val="282828"/>
                          </a:solidFill>
                          <a:latin typeface="Arial"/>
                        </a:rPr>
                        <a:t>9.7</a:t>
                      </a:r>
                    </a:p>
                  </a:txBody>
                  <a:tcPr marL="54864" marR="54864" marT="18288" marB="18288">
                    <a:solidFill>
                      <a:srgbClr val="ECF1F6"/>
                    </a:solidFill>
                  </a:tcPr>
                </a:tc>
              </a:tr>
              <a:tr h="280035">
                <a:tc>
                  <a:txBody>
                    <a:bodyPr wrap="square"/>
                    <a:lstStyle/>
                    <a:p>
                      <a:r>
                        <a:rPr sz="1100" b="0">
                          <a:solidFill>
                            <a:srgbClr val="282828"/>
                          </a:solidFill>
                          <a:latin typeface="Arial"/>
                        </a:rPr>
                        <a:t>S3</a:t>
                      </a:r>
                    </a:p>
                  </a:txBody>
                  <a:tcPr marL="54864" marR="54864" marT="18288" marB="18288">
                    <a:solidFill>
                      <a:srgbClr val="FFFFFF"/>
                    </a:solidFill>
                  </a:tcPr>
                </a:tc>
                <a:tc>
                  <a:txBody>
                    <a:bodyPr wrap="square"/>
                    <a:lstStyle/>
                    <a:p>
                      <a:r>
                        <a:rPr sz="1100" b="0">
                          <a:solidFill>
                            <a:srgbClr val="282828"/>
                          </a:solidFill>
                          <a:latin typeface="Arial"/>
                        </a:rPr>
                        <a:t>173.6</a:t>
                      </a:r>
                    </a:p>
                  </a:txBody>
                  <a:tcPr marL="54864" marR="54864" marT="18288" marB="18288">
                    <a:solidFill>
                      <a:srgbClr val="FFFFFF"/>
                    </a:solidFill>
                  </a:tcPr>
                </a:tc>
                <a:tc>
                  <a:txBody>
                    <a:bodyPr wrap="square"/>
                    <a:lstStyle/>
                    <a:p>
                      <a:r>
                        <a:rPr sz="1100" b="0">
                          <a:solidFill>
                            <a:srgbClr val="282828"/>
                          </a:solidFill>
                          <a:latin typeface="Arial"/>
                        </a:rPr>
                        <a:t>9.8</a:t>
                      </a:r>
                    </a:p>
                  </a:txBody>
                  <a:tcPr marL="54864" marR="54864" marT="18288" marB="18288">
                    <a:solidFill>
                      <a:srgbClr val="FFFFFF"/>
                    </a:solidFill>
                  </a:tcPr>
                </a:tc>
              </a:tr>
              <a:tr h="280035">
                <a:tc>
                  <a:txBody>
                    <a:bodyPr wrap="square"/>
                    <a:lstStyle/>
                    <a:p>
                      <a:r>
                        <a:rPr sz="1100" b="0">
                          <a:solidFill>
                            <a:srgbClr val="282828"/>
                          </a:solidFill>
                          <a:latin typeface="Arial"/>
                        </a:rPr>
                        <a:t>S4</a:t>
                      </a:r>
                    </a:p>
                  </a:txBody>
                  <a:tcPr marL="54864" marR="54864" marT="18288" marB="18288">
                    <a:solidFill>
                      <a:srgbClr val="ECF1F6"/>
                    </a:solidFill>
                  </a:tcPr>
                </a:tc>
                <a:tc>
                  <a:txBody>
                    <a:bodyPr wrap="square"/>
                    <a:lstStyle/>
                    <a:p>
                      <a:r>
                        <a:rPr sz="1100" b="0">
                          <a:solidFill>
                            <a:srgbClr val="282828"/>
                          </a:solidFill>
                          <a:latin typeface="Arial"/>
                        </a:rPr>
                        <a:t>81.9</a:t>
                      </a:r>
                    </a:p>
                  </a:txBody>
                  <a:tcPr marL="54864" marR="54864" marT="18288" marB="18288">
                    <a:solidFill>
                      <a:srgbClr val="ECF1F6"/>
                    </a:solidFill>
                  </a:tcPr>
                </a:tc>
                <a:tc>
                  <a:txBody>
                    <a:bodyPr wrap="square"/>
                    <a:lstStyle/>
                    <a:p>
                      <a:r>
                        <a:rPr sz="1100" b="0">
                          <a:solidFill>
                            <a:srgbClr val="282828"/>
                          </a:solidFill>
                          <a:latin typeface="Arial"/>
                        </a:rPr>
                        <a:t>6.8</a:t>
                      </a:r>
                    </a:p>
                  </a:txBody>
                  <a:tcPr marL="54864" marR="54864" marT="18288" marB="18288">
                    <a:solidFill>
                      <a:srgbClr val="ECF1F6"/>
                    </a:solidFill>
                  </a:tcPr>
                </a:tc>
              </a:tr>
              <a:tr h="280035">
                <a:tc>
                  <a:txBody>
                    <a:bodyPr wrap="square"/>
                    <a:lstStyle/>
                    <a:p>
                      <a:r>
                        <a:rPr sz="1100" b="0">
                          <a:solidFill>
                            <a:srgbClr val="282828"/>
                          </a:solidFill>
                          <a:latin typeface="Arial"/>
                        </a:rPr>
                        <a:t>S5</a:t>
                      </a:r>
                    </a:p>
                  </a:txBody>
                  <a:tcPr marL="54864" marR="54864" marT="18288" marB="18288">
                    <a:solidFill>
                      <a:srgbClr val="FFFFFF"/>
                    </a:solidFill>
                  </a:tcPr>
                </a:tc>
                <a:tc>
                  <a:txBody>
                    <a:bodyPr wrap="square"/>
                    <a:lstStyle/>
                    <a:p>
                      <a:r>
                        <a:rPr sz="1100" b="0">
                          <a:solidFill>
                            <a:srgbClr val="282828"/>
                          </a:solidFill>
                          <a:latin typeface="Arial"/>
                        </a:rPr>
                        <a:t>40.5</a:t>
                      </a:r>
                    </a:p>
                  </a:txBody>
                  <a:tcPr marL="54864" marR="54864" marT="18288" marB="18288">
                    <a:solidFill>
                      <a:srgbClr val="FFFFFF"/>
                    </a:solidFill>
                  </a:tcPr>
                </a:tc>
                <a:tc>
                  <a:txBody>
                    <a:bodyPr wrap="square"/>
                    <a:lstStyle/>
                    <a:p>
                      <a:r>
                        <a:rPr sz="1100" b="0">
                          <a:solidFill>
                            <a:srgbClr val="282828"/>
                          </a:solidFill>
                          <a:latin typeface="Arial"/>
                        </a:rPr>
                        <a:t>7.9</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200" b="0">
                <a:solidFill>
                  <a:srgbClr val="282828"/>
                </a:solidFill>
                <a:latin typeface="Arial"/>
              </a:rPr>
              <a:t>•  What carried: per-ray Gauss–Newton residuals (per-field-RMS residuals stall); first-order identities re-derived, never penalized; stop decenter as the exit-aiming variable; clearances as hinge rows in the solve; negative controls with teeth at every decode.</a:t>
            </a:r>
          </a:p>
          <a:p>
            <a:pPr>
              <a:spcAft>
                <a:spcPts val="600"/>
              </a:spcAft>
            </a:pPr>
            <a:r>
              <a:rPr sz="1200" b="0">
                <a:solidFill>
                  <a:srgbClr val="282828"/>
                </a:solidFill>
                <a:latin typeface="Arial"/>
              </a:rPr>
              <a:t>•  What taught: clearance judged at the box centre misses edge-field blockage — evaluate over the field; a boolean constraint wall freezes a non-compliant start (hinge rows do not); stations are not spacings — a transcription slip briefly suggested F/4.95, and the runner now reads packaging from the .seq truth file so the comparison cannot drift that way again.</a:t>
            </a:r>
          </a:p>
        </p:txBody>
      </p:sp>
      <p:pic>
        <p:nvPicPr>
          <p:cNvPr id="6" name="Picture 5" descr="deck_t4_layout_isoside.png"/>
          <p:cNvPicPr>
            <a:picLocks noChangeAspect="1"/>
          </p:cNvPicPr>
          <p:nvPr/>
        </p:nvPicPr>
        <p:blipFill>
          <a:blip r:embed="rId2"/>
          <a:stretch>
            <a:fillRect/>
          </a:stretch>
        </p:blipFill>
        <p:spPr>
          <a:xfrm>
            <a:off x="6400800" y="1298448"/>
            <a:ext cx="5394960" cy="2232314"/>
          </a:xfrm>
          <a:prstGeom prst="rect">
            <a:avLst/>
          </a:prstGeom>
        </p:spPr>
      </p:pic>
      <p:sp>
        <p:nvSpPr>
          <p:cNvPr id="7" name="TextBox 6"/>
          <p:cNvSpPr txBox="1"/>
          <p:nvPr/>
        </p:nvSpPr>
        <p:spPr>
          <a:xfrm>
            <a:off x="6400800" y="3549050"/>
            <a:ext cx="5394960" cy="394208"/>
          </a:xfrm>
          <a:prstGeom prst="rect">
            <a:avLst/>
          </a:prstGeom>
          <a:noFill/>
        </p:spPr>
        <p:txBody>
          <a:bodyPr wrap="square">
            <a:spAutoFit/>
          </a:bodyPr>
          <a:lstStyle/>
          <a:p>
            <a:pPr algn="ctr">
              <a:spcAft>
                <a:spcPts val="0"/>
              </a:spcAft>
            </a:pPr>
            <a:r>
              <a:rPr sz="1000" b="0">
                <a:solidFill>
                  <a:srgbClr val="6E6E6E"/>
                </a:solidFill>
                <a:latin typeface="Arial"/>
              </a:rPr>
              <a:t>The second instrument at S5 (iso + side): the same five-stage flow at different parameters.</a:t>
            </a:r>
          </a:p>
        </p:txBody>
      </p:sp>
      <p:pic>
        <p:nvPicPr>
          <p:cNvPr id="8" name="Picture 7" descr="t4_s5_fields.png"/>
          <p:cNvPicPr>
            <a:picLocks noChangeAspect="1"/>
          </p:cNvPicPr>
          <p:nvPr/>
        </p:nvPicPr>
        <p:blipFill>
          <a:blip r:embed="rId3"/>
          <a:stretch>
            <a:fillRect/>
          </a:stretch>
        </p:blipFill>
        <p:spPr>
          <a:xfrm>
            <a:off x="7872277" y="3979834"/>
            <a:ext cx="2452005" cy="1708912"/>
          </a:xfrm>
          <a:prstGeom prst="rect">
            <a:avLst/>
          </a:prstGeom>
        </p:spPr>
      </p:pic>
      <p:sp>
        <p:nvSpPr>
          <p:cNvPr id="9" name="TextBox 8"/>
          <p:cNvSpPr txBox="1"/>
          <p:nvPr/>
        </p:nvSpPr>
        <p:spPr>
          <a:xfrm>
            <a:off x="6400800" y="5707034"/>
            <a:ext cx="5394960" cy="394208"/>
          </a:xfrm>
          <a:prstGeom prst="rect">
            <a:avLst/>
          </a:prstGeom>
          <a:noFill/>
        </p:spPr>
        <p:txBody>
          <a:bodyPr wrap="square">
            <a:spAutoFit/>
          </a:bodyPr>
          <a:lstStyle/>
          <a:p>
            <a:pPr algn="ctr">
              <a:spcAft>
                <a:spcPts val="0"/>
              </a:spcAft>
            </a:pPr>
            <a:r>
              <a:rPr sz="1000" b="0">
                <a:solidFill>
                  <a:srgbClr val="6E6E6E"/>
                </a:solidFill>
                <a:latin typeface="Arial"/>
              </a:rPr>
              <a:t>S5 field envelopes: centre + YAN-extreme beams clear every mirror at the instrument's own 10/5 mm spec.</a:t>
            </a:r>
          </a:p>
        </p:txBody>
      </p:sp>
      <p:sp>
        <p:nvSpPr>
          <p:cNvPr id="10" name="TextBox 9"/>
          <p:cNvSpPr txBox="1"/>
          <p:nvPr/>
        </p:nvSpPr>
        <p:spPr>
          <a:xfrm>
            <a:off x="6400800" y="6137818"/>
            <a:ext cx="5394960" cy="274320"/>
          </a:xfrm>
          <a:prstGeom prst="rect">
            <a:avLst/>
          </a:prstGeom>
          <a:noFill/>
        </p:spPr>
        <p:txBody>
          <a:bodyPr wrap="square">
            <a:spAutoFit/>
          </a:bodyPr>
          <a:lstStyle/>
          <a:p>
            <a:pPr>
              <a:spcAft>
                <a:spcPts val="600"/>
              </a:spcAft>
            </a:pPr>
            <a:r>
              <a:rPr sz="1050" b="0">
                <a:solidFill>
                  <a:srgbClr val="6E6E6E"/>
                </a:solidFill>
                <a:latin typeface="Arial"/>
              </a:rPr>
              <a:t>strict RMS WFE, centroid reference on the stage's frozen focal plane, exit-pupil anchor, piston-only removal; quoted statistic = dense 11x11 map MAXIMUM over the field box (this instrument's box).  Reproduce: rodgers3() = the Stage-0 gates, oi_story(...) = ladder + counters; record: challenges/rodgers3/PACKET.md.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