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4409" r:id="rId2"/>
    <p:sldId id="441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7886"/>
    <a:srgbClr val="0000FF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7" autoAdjust="0"/>
    <p:restoredTop sz="97217" autoAdjust="0"/>
  </p:normalViewPr>
  <p:slideViewPr>
    <p:cSldViewPr snapToGrid="0">
      <p:cViewPr varScale="1">
        <p:scale>
          <a:sx n="92" d="100"/>
          <a:sy n="92" d="100"/>
        </p:scale>
        <p:origin x="84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3DA83-9EF1-408A-A4AA-3C815B28AC2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1A65D-2C3B-4F3C-BA2D-FBA02FD27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228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8F02E-E1E4-7C53-BF92-DD91C8396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5FC5B-BD2D-ABA1-26A0-B37ADCFB22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ACC9F-38E2-EBC8-F5D7-85BB0EFDC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DFDE-46A7-4796-BF1B-D0CCC766BED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C9777-4537-A186-D460-083D37FEF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DA586-FE7B-7657-1586-633ABBA34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AA8C-CD11-4BEF-8944-AF7637B3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31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6B417-DECE-F1C2-294B-B658FD53C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97B42-54AC-3E73-B37B-03C56F197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772E0-9AC4-3B5B-DBE9-C15F7EC76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DFDE-46A7-4796-BF1B-D0CCC766BED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3BDAF-916C-D315-6C09-8C5424393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8E68E-600C-5BFB-36E2-E7EFD69D7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AA8C-CD11-4BEF-8944-AF7637B3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988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6201D-B470-9B2F-93FC-1754F08B4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5AAD4-DBFC-A762-4F3C-0963E9043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B0900-72BB-97DC-DF48-AC892F077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DFDE-46A7-4796-BF1B-D0CCC766BED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52E8F-AE61-E593-8203-DE4F76E58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78CA0-AE6B-2297-5540-AB06FF133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AA8C-CD11-4BEF-8944-AF7637B3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33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7C072-ED26-C634-D918-E0840CFBE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C781A-D477-3445-60AB-BFD35CFDB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17669-AAB1-DF88-2829-37972AE30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13613-005E-4700-7DDA-B3A8B0F54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DFDE-46A7-4796-BF1B-D0CCC766BED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9B5B52-B6FA-F2CA-FA7E-C54D81D4F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7875D-CFAE-9BBB-4BB8-633E2AD3B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AA8C-CD11-4BEF-8944-AF7637B3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90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40AAB-D40F-22AE-7617-24D84D324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B6A0A-33DF-093B-F70A-DDBCD8B92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2318-533F-60B7-6BB2-DB20A43A5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31BE2-BFE3-34BE-3A56-972D410633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A62366-E4DD-2B4A-A072-E41752DB26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8DDBAD-0654-ABAE-5B9E-B478B1C8A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DFDE-46A7-4796-BF1B-D0CCC766BED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B4E2D8-62B1-01D1-DCF7-D19824DEC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ACBCC8-86EA-EF7A-3169-C755CC647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AA8C-CD11-4BEF-8944-AF7637B3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320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C94FC-72A4-7644-DC74-1650929D7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59E87-1C71-E037-9228-0D1BC5794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DFDE-46A7-4796-BF1B-D0CCC766BED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40FC5B-8B32-D007-DC34-698B54002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F1FD4F-B3DA-E671-29C0-23F08DBD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AA8C-CD11-4BEF-8944-AF7637B3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13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F0537E-29BB-1B4D-22FC-B138FC53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DFDE-46A7-4796-BF1B-D0CCC766BED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F55F86-8C40-9251-C384-6C446691E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63E20-8AEA-94C4-D043-1019389B2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AA8C-CD11-4BEF-8944-AF7637B3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48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29603-E908-F7A7-280D-04852232E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A3E11-B00D-F3A1-FD13-756AC1A76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F4E4A9-441D-04FC-880B-31FEB543E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8DA69-18C1-BBA3-BD47-80972D80F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DFDE-46A7-4796-BF1B-D0CCC766BED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E893E-DC64-BF95-9F95-121053ABC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49D54-5193-90E9-F240-3613D2736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AA8C-CD11-4BEF-8944-AF7637B3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09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3EC57-71DC-153E-3D26-0B51731DC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7126F1-6459-87B0-BE13-3F9538BDFB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3EB9C-F989-4552-7238-E5BF61DAB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25C71-92D9-88F1-D441-9A085645C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DFDE-46A7-4796-BF1B-D0CCC766BED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CEA98-7533-1E7B-E499-03FD3533E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2C66E-D64B-74BC-7023-63DF7A85B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AA8C-CD11-4BEF-8944-AF7637B3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343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EB077-9741-89D6-EE5B-FD1D9A91E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DE06FA-FE24-0D8D-BAC6-910E1DE4B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BAA5E-4B14-BEF5-9B8F-41665240B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DFDE-46A7-4796-BF1B-D0CCC766BED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4F4D8-15CA-CFB5-B91F-0B1839BE6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A37B4-86B1-44A2-19B4-F353BDCAD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AA8C-CD11-4BEF-8944-AF7637B3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930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E0F461-2408-B2CB-40CE-615301EE47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2F5351-FCF8-B15C-4425-76CCAB437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65372-3994-C046-2F3D-F506929B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DFDE-46A7-4796-BF1B-D0CCC766BED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DC469-09E2-5F8C-D25E-B69CEC3D7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5879E-119A-E5FF-9C74-9A87DC7D5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FAA8C-CD11-4BEF-8944-AF7637B3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1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811942-24DC-9776-D453-5BE6DC8E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73359-CB17-1632-245A-B6345C4DF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8AF81-3FFF-253F-96E1-0AC7684B1C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71DFDE-46A7-4796-BF1B-D0CCC766BED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FCA8-67F4-DC39-8FAD-BBFDE35AD2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9B182-3882-B0BB-96E1-EC3ACBB20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9FAA8C-CD11-4BEF-8944-AF7637B3E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47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wport.com/p/PAC095AR.14" TargetMode="External"/><Relationship Id="rId2" Type="http://schemas.openxmlformats.org/officeDocument/2006/relationships/hyperlink" Target="https://www.newport.com/p/PAC097AR.14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09F3B-DF0D-71CB-D59F-DBD862BC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52" y="203079"/>
            <a:ext cx="7374037" cy="711321"/>
          </a:xfrm>
        </p:spPr>
        <p:txBody>
          <a:bodyPr/>
          <a:lstStyle/>
          <a:p>
            <a:r>
              <a:rPr lang="en-US" dirty="0"/>
              <a:t>VSG2 Basic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008014-641A-1DAA-C448-8961EF8FADA0}"/>
              </a:ext>
            </a:extLst>
          </p:cNvPr>
          <p:cNvSpPr txBox="1"/>
          <p:nvPr/>
        </p:nvSpPr>
        <p:spPr>
          <a:xfrm>
            <a:off x="304275" y="1085931"/>
            <a:ext cx="7074586" cy="509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1775" lvl="1" indent="-2317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VSG2 is a Twyman-Green interferometer with the camera focused on the DM, which serves as the system pupil.</a:t>
            </a:r>
          </a:p>
          <a:p>
            <a:pPr marL="688975" lvl="2" indent="-2317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It will be updated to include Zernike Wavefront Sensor (ZWFS)</a:t>
            </a:r>
          </a:p>
          <a:p>
            <a:pPr marL="231775" lvl="1" indent="-2317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Source: frequency stabled He-Ne laser feed into SM fiber</a:t>
            </a:r>
          </a:p>
          <a:p>
            <a:pPr marL="688975" lvl="2" indent="-2317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Baffle to block excessive light outside the L1</a:t>
            </a:r>
          </a:p>
          <a:p>
            <a:pPr marL="231775" lvl="1" indent="-2317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Collimate lens (L1): </a:t>
            </a:r>
            <a:r>
              <a:rPr lang="fr-FR" sz="1600" dirty="0" err="1"/>
              <a:t>Achromatic</a:t>
            </a:r>
            <a:r>
              <a:rPr lang="fr-FR" sz="1600" dirty="0"/>
              <a:t> Doublet Lens, Visible, D=76.2 mm, 750 mm EFL, 430-700 nm. </a:t>
            </a:r>
          </a:p>
          <a:p>
            <a:pPr marL="688975" lvl="2" indent="-2317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hlinkClick r:id="rId2"/>
              </a:rPr>
              <a:t>https://www.newport.com/p/PAC097AR.14</a:t>
            </a:r>
            <a:endParaRPr lang="en-US" sz="1600" dirty="0"/>
          </a:p>
          <a:p>
            <a:pPr marL="231775" lvl="1" indent="-2317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Beam splitter: </a:t>
            </a:r>
          </a:p>
          <a:p>
            <a:pPr marL="231775" lvl="1" indent="-2317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Focusing lens (L2): </a:t>
            </a:r>
            <a:r>
              <a:rPr lang="fr-FR" sz="1600" dirty="0" err="1"/>
              <a:t>Achromatic</a:t>
            </a:r>
            <a:r>
              <a:rPr lang="fr-FR" sz="1600" dirty="0"/>
              <a:t> Doublet Lens, Visible, D=76.2 mm, 250 mm EFL, 430-700 nm</a:t>
            </a:r>
          </a:p>
          <a:p>
            <a:pPr marL="688975" lvl="2" indent="-2317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hlinkClick r:id="rId3"/>
              </a:rPr>
              <a:t>https://www.newport.com/p/PAC095AR.14</a:t>
            </a:r>
            <a:endParaRPr lang="en-US" sz="1600" dirty="0"/>
          </a:p>
          <a:p>
            <a:pPr marL="688975" lvl="2" indent="-2317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Total length from DM to focusing lens ~1175 mm</a:t>
            </a:r>
          </a:p>
          <a:p>
            <a:pPr marL="231775" lvl="1" indent="-2317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Camera: Andor NEO </a:t>
            </a:r>
            <a:r>
              <a:rPr lang="en-US" sz="1600"/>
              <a:t>sCMOS</a:t>
            </a:r>
            <a:endParaRPr lang="en-US" sz="1600" dirty="0"/>
          </a:p>
          <a:p>
            <a:pPr marL="688975" lvl="2" indent="-2317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2160x2560 array of 6.5 µm pixels</a:t>
            </a:r>
          </a:p>
          <a:p>
            <a:pPr marL="688975" lvl="2" indent="-2317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Camera is focused to DM surface</a:t>
            </a:r>
          </a:p>
          <a:p>
            <a:pPr marL="688975" lvl="2" indent="-2317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Distance from focusing lens to camera is ~317 mm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DF19EC-4AF0-4484-65E4-B356F4C7755C}"/>
              </a:ext>
            </a:extLst>
          </p:cNvPr>
          <p:cNvSpPr txBox="1"/>
          <p:nvPr/>
        </p:nvSpPr>
        <p:spPr>
          <a:xfrm>
            <a:off x="8255805" y="325534"/>
            <a:ext cx="3187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VSG2 Optical Layout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E3989D7-D02E-1603-AB22-9A2A5F12A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7267" y="756292"/>
            <a:ext cx="3704738" cy="57617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342D0D5-AC62-2902-78F0-4710DAC0EC43}"/>
              </a:ext>
            </a:extLst>
          </p:cNvPr>
          <p:cNvSpPr txBox="1"/>
          <p:nvPr/>
        </p:nvSpPr>
        <p:spPr>
          <a:xfrm rot="352938">
            <a:off x="9154586" y="1042963"/>
            <a:ext cx="881713" cy="298543"/>
          </a:xfrm>
          <a:prstGeom prst="rect">
            <a:avLst/>
          </a:prstGeom>
          <a:solidFill>
            <a:schemeClr val="bg1"/>
          </a:solidFill>
          <a:ln w="31750">
            <a:noFill/>
          </a:ln>
        </p:spPr>
        <p:txBody>
          <a:bodyPr wrap="square" lIns="45720" tIns="64008" rIns="45720" bIns="64008" rtlCol="0">
            <a:spAutoFit/>
          </a:bodyPr>
          <a:lstStyle/>
          <a:p>
            <a:r>
              <a:rPr lang="en-US" sz="1100" b="1" dirty="0"/>
              <a:t>~1175 mm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FBC7A9-C7BA-1CC2-9547-1346E5FA488D}"/>
              </a:ext>
            </a:extLst>
          </p:cNvPr>
          <p:cNvSpPr txBox="1"/>
          <p:nvPr/>
        </p:nvSpPr>
        <p:spPr>
          <a:xfrm rot="18402251">
            <a:off x="9357825" y="2301789"/>
            <a:ext cx="827717" cy="298543"/>
          </a:xfrm>
          <a:prstGeom prst="rect">
            <a:avLst/>
          </a:prstGeom>
          <a:solidFill>
            <a:schemeClr val="bg1"/>
          </a:solidFill>
          <a:ln w="31750">
            <a:noFill/>
          </a:ln>
        </p:spPr>
        <p:txBody>
          <a:bodyPr wrap="square" lIns="45720" tIns="64008" rIns="45720" bIns="64008" rtlCol="0">
            <a:spAutoFit/>
          </a:bodyPr>
          <a:lstStyle/>
          <a:p>
            <a:r>
              <a:rPr lang="en-US" sz="1100" b="1" dirty="0"/>
              <a:t>~317 mm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6396A-693E-5110-8849-DC578CD7AACE}"/>
              </a:ext>
            </a:extLst>
          </p:cNvPr>
          <p:cNvSpPr txBox="1"/>
          <p:nvPr/>
        </p:nvSpPr>
        <p:spPr>
          <a:xfrm>
            <a:off x="10243474" y="4238375"/>
            <a:ext cx="396007" cy="313932"/>
          </a:xfrm>
          <a:prstGeom prst="rect">
            <a:avLst/>
          </a:prstGeom>
          <a:noFill/>
        </p:spPr>
        <p:txBody>
          <a:bodyPr wrap="none" lIns="18288" tIns="18288" rIns="18288" bIns="18288" rtlCol="0">
            <a:spAutoFit/>
          </a:bodyPr>
          <a:lstStyle/>
          <a:p>
            <a:pPr algn="ctr"/>
            <a:r>
              <a:rPr lang="en-US" b="1" dirty="0"/>
              <a:t>DM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8B282B-463B-F53F-807C-643C7CF07DB8}"/>
              </a:ext>
            </a:extLst>
          </p:cNvPr>
          <p:cNvSpPr txBox="1"/>
          <p:nvPr/>
        </p:nvSpPr>
        <p:spPr>
          <a:xfrm>
            <a:off x="10454018" y="2289677"/>
            <a:ext cx="1302958" cy="590931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algn="ctr"/>
            <a:r>
              <a:rPr lang="en-US" b="1" dirty="0"/>
              <a:t>Ref Mirr &amp; PZT Stage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516963-6801-BD62-9B21-C676EC740A3B}"/>
              </a:ext>
            </a:extLst>
          </p:cNvPr>
          <p:cNvSpPr txBox="1"/>
          <p:nvPr/>
        </p:nvSpPr>
        <p:spPr>
          <a:xfrm>
            <a:off x="8363830" y="2744398"/>
            <a:ext cx="883319" cy="313932"/>
          </a:xfrm>
          <a:prstGeom prst="rect">
            <a:avLst/>
          </a:prstGeom>
          <a:noFill/>
        </p:spPr>
        <p:txBody>
          <a:bodyPr wrap="none" lIns="18288" tIns="18288" rIns="18288" bIns="18288" rtlCol="0">
            <a:spAutoFit/>
          </a:bodyPr>
          <a:lstStyle/>
          <a:p>
            <a:pPr algn="ctr"/>
            <a:r>
              <a:rPr lang="en-US" b="1" dirty="0"/>
              <a:t>Camera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5F8B14-126F-8981-6167-4359908C91BA}"/>
              </a:ext>
            </a:extLst>
          </p:cNvPr>
          <p:cNvSpPr txBox="1"/>
          <p:nvPr/>
        </p:nvSpPr>
        <p:spPr>
          <a:xfrm>
            <a:off x="8178608" y="942890"/>
            <a:ext cx="665117" cy="313932"/>
          </a:xfrm>
          <a:prstGeom prst="rect">
            <a:avLst/>
          </a:prstGeom>
          <a:noFill/>
        </p:spPr>
        <p:txBody>
          <a:bodyPr wrap="none" lIns="18288" tIns="18288" rIns="18288" bIns="18288" rtlCol="0">
            <a:spAutoFit/>
          </a:bodyPr>
          <a:lstStyle/>
          <a:p>
            <a:pPr algn="ctr"/>
            <a:r>
              <a:rPr lang="en-US" b="1" dirty="0"/>
              <a:t>Fold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8C0DCA-674B-6D6A-2805-A61688921302}"/>
              </a:ext>
            </a:extLst>
          </p:cNvPr>
          <p:cNvSpPr txBox="1"/>
          <p:nvPr/>
        </p:nvSpPr>
        <p:spPr>
          <a:xfrm>
            <a:off x="10523531" y="1224467"/>
            <a:ext cx="665117" cy="313932"/>
          </a:xfrm>
          <a:prstGeom prst="rect">
            <a:avLst/>
          </a:prstGeom>
          <a:noFill/>
        </p:spPr>
        <p:txBody>
          <a:bodyPr wrap="none" lIns="18288" tIns="18288" rIns="18288" bIns="18288" rtlCol="0">
            <a:spAutoFit/>
          </a:bodyPr>
          <a:lstStyle/>
          <a:p>
            <a:pPr algn="ctr"/>
            <a:r>
              <a:rPr lang="en-US" b="1" dirty="0"/>
              <a:t>Fold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2BEE04-50DB-637D-6579-6F8EA1F3ED09}"/>
              </a:ext>
            </a:extLst>
          </p:cNvPr>
          <p:cNvSpPr txBox="1"/>
          <p:nvPr/>
        </p:nvSpPr>
        <p:spPr>
          <a:xfrm>
            <a:off x="10253816" y="3093053"/>
            <a:ext cx="317458" cy="313932"/>
          </a:xfrm>
          <a:prstGeom prst="rect">
            <a:avLst/>
          </a:prstGeom>
          <a:noFill/>
        </p:spPr>
        <p:txBody>
          <a:bodyPr wrap="none" lIns="18288" tIns="18288" rIns="18288" bIns="18288" rtlCol="0">
            <a:spAutoFit/>
          </a:bodyPr>
          <a:lstStyle/>
          <a:p>
            <a:pPr algn="ctr"/>
            <a:r>
              <a:rPr lang="en-US" b="1" dirty="0"/>
              <a:t>BS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E596AD-C2EB-60C7-758F-13F4921ED776}"/>
              </a:ext>
            </a:extLst>
          </p:cNvPr>
          <p:cNvSpPr txBox="1"/>
          <p:nvPr/>
        </p:nvSpPr>
        <p:spPr>
          <a:xfrm>
            <a:off x="8165591" y="4669552"/>
            <a:ext cx="678134" cy="313932"/>
          </a:xfrm>
          <a:prstGeom prst="rect">
            <a:avLst/>
          </a:prstGeom>
          <a:noFill/>
        </p:spPr>
        <p:txBody>
          <a:bodyPr wrap="none" lIns="18288" tIns="18288" rIns="18288" bIns="18288" rtlCol="0">
            <a:spAutoFit/>
          </a:bodyPr>
          <a:lstStyle/>
          <a:p>
            <a:pPr algn="ctr"/>
            <a:r>
              <a:rPr lang="en-US" b="1" dirty="0"/>
              <a:t>Baffle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2FBD21-807C-8B84-C368-2D9E093DC5AE}"/>
              </a:ext>
            </a:extLst>
          </p:cNvPr>
          <p:cNvSpPr txBox="1"/>
          <p:nvPr/>
        </p:nvSpPr>
        <p:spPr>
          <a:xfrm>
            <a:off x="9469330" y="1611585"/>
            <a:ext cx="278986" cy="313932"/>
          </a:xfrm>
          <a:prstGeom prst="rect">
            <a:avLst/>
          </a:prstGeom>
          <a:noFill/>
        </p:spPr>
        <p:txBody>
          <a:bodyPr wrap="none" lIns="18288" tIns="18288" rIns="18288" bIns="18288" rtlCol="0">
            <a:spAutoFit/>
          </a:bodyPr>
          <a:lstStyle/>
          <a:p>
            <a:pPr algn="ctr"/>
            <a:r>
              <a:rPr lang="en-US" b="1" dirty="0"/>
              <a:t>L2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04822E-71D8-EBB0-642E-BE926DA12B05}"/>
              </a:ext>
            </a:extLst>
          </p:cNvPr>
          <p:cNvSpPr txBox="1"/>
          <p:nvPr/>
        </p:nvSpPr>
        <p:spPr>
          <a:xfrm>
            <a:off x="9107114" y="3687029"/>
            <a:ext cx="278986" cy="313932"/>
          </a:xfrm>
          <a:prstGeom prst="rect">
            <a:avLst/>
          </a:prstGeom>
          <a:noFill/>
        </p:spPr>
        <p:txBody>
          <a:bodyPr wrap="none" lIns="18288" tIns="18288" rIns="18288" bIns="18288" rtlCol="0">
            <a:spAutoFit/>
          </a:bodyPr>
          <a:lstStyle/>
          <a:p>
            <a:pPr algn="ctr"/>
            <a:r>
              <a:rPr lang="en-US" b="1" dirty="0"/>
              <a:t>L1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E7CE73-AEF6-E2CD-0355-3D12F42D5DD3}"/>
              </a:ext>
            </a:extLst>
          </p:cNvPr>
          <p:cNvSpPr txBox="1"/>
          <p:nvPr/>
        </p:nvSpPr>
        <p:spPr>
          <a:xfrm>
            <a:off x="8906177" y="2319710"/>
            <a:ext cx="367152" cy="313932"/>
          </a:xfrm>
          <a:prstGeom prst="rect">
            <a:avLst/>
          </a:prstGeom>
          <a:noFill/>
        </p:spPr>
        <p:txBody>
          <a:bodyPr wrap="none" lIns="18288" tIns="18288" rIns="18288" bIns="18288" rtlCol="0">
            <a:spAutoFit/>
          </a:bodyPr>
          <a:lstStyle/>
          <a:p>
            <a:pPr algn="ctr"/>
            <a:r>
              <a:rPr lang="en-US" b="1" dirty="0"/>
              <a:t>ND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55086D-25DF-0B79-B5E8-A64ABA5B52E7}"/>
              </a:ext>
            </a:extLst>
          </p:cNvPr>
          <p:cNvSpPr txBox="1"/>
          <p:nvPr/>
        </p:nvSpPr>
        <p:spPr>
          <a:xfrm>
            <a:off x="8629846" y="6233070"/>
            <a:ext cx="779765" cy="313932"/>
          </a:xfrm>
          <a:prstGeom prst="rect">
            <a:avLst/>
          </a:prstGeom>
          <a:noFill/>
        </p:spPr>
        <p:txBody>
          <a:bodyPr wrap="none" lIns="18288" tIns="18288" rIns="18288" bIns="18288" rtlCol="0">
            <a:spAutoFit/>
          </a:bodyPr>
          <a:lstStyle/>
          <a:p>
            <a:pPr algn="ctr"/>
            <a:r>
              <a:rPr lang="en-US" b="1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637095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6CEDD-8961-30B7-2476-A745BE84C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144" y="129512"/>
            <a:ext cx="7258962" cy="775226"/>
          </a:xfrm>
        </p:spPr>
        <p:txBody>
          <a:bodyPr>
            <a:normAutofit/>
          </a:bodyPr>
          <a:lstStyle/>
          <a:p>
            <a:r>
              <a:rPr lang="en-US" dirty="0"/>
              <a:t>VSG2 In Picture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5D3C65-18B9-8D16-D5D2-5867E36F04C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8" t="3069" r="7772" b="7462"/>
          <a:stretch/>
        </p:blipFill>
        <p:spPr>
          <a:xfrm>
            <a:off x="576232" y="1618705"/>
            <a:ext cx="5866791" cy="47073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9DDF29-8015-9E6C-3CA7-57630B850377}"/>
              </a:ext>
            </a:extLst>
          </p:cNvPr>
          <p:cNvSpPr txBox="1"/>
          <p:nvPr/>
        </p:nvSpPr>
        <p:spPr>
          <a:xfrm>
            <a:off x="1312207" y="2710533"/>
            <a:ext cx="396007" cy="313932"/>
          </a:xfrm>
          <a:prstGeom prst="rect">
            <a:avLst/>
          </a:prstGeom>
          <a:noFill/>
        </p:spPr>
        <p:txBody>
          <a:bodyPr wrap="none" lIns="18288" tIns="18288" rIns="18288" bIns="18288" rtlCol="0">
            <a:spAutoFit/>
          </a:bodyPr>
          <a:lstStyle/>
          <a:p>
            <a:pPr algn="ctr"/>
            <a:r>
              <a:rPr lang="en-US" b="1" dirty="0">
                <a:solidFill>
                  <a:srgbClr val="FFFF66"/>
                </a:solidFill>
              </a:rPr>
              <a:t>DM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731F80-08CA-6159-8AFE-9D5408384259}"/>
              </a:ext>
            </a:extLst>
          </p:cNvPr>
          <p:cNvSpPr txBox="1"/>
          <p:nvPr/>
        </p:nvSpPr>
        <p:spPr>
          <a:xfrm>
            <a:off x="673728" y="3891599"/>
            <a:ext cx="1302958" cy="590931"/>
          </a:xfrm>
          <a:prstGeom prst="rect">
            <a:avLst/>
          </a:prstGeom>
          <a:noFill/>
        </p:spPr>
        <p:txBody>
          <a:bodyPr wrap="square" lIns="18288" tIns="18288" rIns="18288" bIns="18288" rtlCol="0">
            <a:spAutoFit/>
          </a:bodyPr>
          <a:lstStyle/>
          <a:p>
            <a:pPr algn="ctr"/>
            <a:r>
              <a:rPr lang="en-US" b="1" dirty="0">
                <a:solidFill>
                  <a:srgbClr val="FFFF66"/>
                </a:solidFill>
              </a:rPr>
              <a:t>Ref Mirr &amp; PZT Stage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B3DFA3-65F9-3354-FCDB-F17D8009EE22}"/>
              </a:ext>
            </a:extLst>
          </p:cNvPr>
          <p:cNvSpPr txBox="1"/>
          <p:nvPr/>
        </p:nvSpPr>
        <p:spPr>
          <a:xfrm>
            <a:off x="3656744" y="2515010"/>
            <a:ext cx="883319" cy="313932"/>
          </a:xfrm>
          <a:prstGeom prst="rect">
            <a:avLst/>
          </a:prstGeom>
          <a:noFill/>
        </p:spPr>
        <p:txBody>
          <a:bodyPr wrap="none" lIns="18288" tIns="18288" rIns="18288" bIns="18288" rtlCol="0">
            <a:spAutoFit/>
          </a:bodyPr>
          <a:lstStyle/>
          <a:p>
            <a:pPr algn="ctr"/>
            <a:r>
              <a:rPr lang="en-US" b="1" dirty="0">
                <a:solidFill>
                  <a:srgbClr val="FFFF66"/>
                </a:solidFill>
              </a:rPr>
              <a:t>Camera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BAF09F-8186-4DCC-82ED-B152B478B77B}"/>
              </a:ext>
            </a:extLst>
          </p:cNvPr>
          <p:cNvSpPr txBox="1"/>
          <p:nvPr/>
        </p:nvSpPr>
        <p:spPr>
          <a:xfrm>
            <a:off x="5691004" y="4187065"/>
            <a:ext cx="716606" cy="313932"/>
          </a:xfrm>
          <a:prstGeom prst="rect">
            <a:avLst/>
          </a:prstGeom>
          <a:noFill/>
        </p:spPr>
        <p:txBody>
          <a:bodyPr wrap="none" lIns="18288" tIns="18288" rIns="18288" bIns="18288" rtlCol="0">
            <a:spAutoFit/>
          </a:bodyPr>
          <a:lstStyle/>
          <a:p>
            <a:pPr algn="ctr"/>
            <a:r>
              <a:rPr lang="en-US" b="1" dirty="0">
                <a:solidFill>
                  <a:srgbClr val="FFFF66"/>
                </a:solidFill>
              </a:rPr>
              <a:t>Fold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8DACCD-C601-D24C-8BC4-252F6AE91536}"/>
              </a:ext>
            </a:extLst>
          </p:cNvPr>
          <p:cNvSpPr txBox="1"/>
          <p:nvPr/>
        </p:nvSpPr>
        <p:spPr>
          <a:xfrm>
            <a:off x="3325941" y="4755793"/>
            <a:ext cx="716606" cy="313932"/>
          </a:xfrm>
          <a:prstGeom prst="rect">
            <a:avLst/>
          </a:prstGeom>
          <a:noFill/>
        </p:spPr>
        <p:txBody>
          <a:bodyPr wrap="none" lIns="18288" tIns="18288" rIns="18288" bIns="18288" rtlCol="0">
            <a:spAutoFit/>
          </a:bodyPr>
          <a:lstStyle/>
          <a:p>
            <a:pPr algn="ctr"/>
            <a:r>
              <a:rPr lang="en-US" b="1" dirty="0">
                <a:solidFill>
                  <a:srgbClr val="FFFF66"/>
                </a:solidFill>
              </a:rPr>
              <a:t>Fold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9093D1-D968-2A80-A389-73D6F45F711E}"/>
              </a:ext>
            </a:extLst>
          </p:cNvPr>
          <p:cNvSpPr txBox="1"/>
          <p:nvPr/>
        </p:nvSpPr>
        <p:spPr>
          <a:xfrm>
            <a:off x="3122579" y="3136411"/>
            <a:ext cx="357535" cy="313932"/>
          </a:xfrm>
          <a:prstGeom prst="rect">
            <a:avLst/>
          </a:prstGeom>
          <a:noFill/>
        </p:spPr>
        <p:txBody>
          <a:bodyPr wrap="none" lIns="18288" tIns="18288" rIns="18288" bIns="18288" rtlCol="0">
            <a:spAutoFit/>
          </a:bodyPr>
          <a:lstStyle/>
          <a:p>
            <a:pPr algn="ctr"/>
            <a:r>
              <a:rPr lang="en-US" b="1" dirty="0">
                <a:solidFill>
                  <a:srgbClr val="FFFF66"/>
                </a:solidFill>
              </a:rPr>
              <a:t>BS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78DC6B-C7BB-F5B9-957A-462B99D482D6}"/>
              </a:ext>
            </a:extLst>
          </p:cNvPr>
          <p:cNvSpPr txBox="1"/>
          <p:nvPr/>
        </p:nvSpPr>
        <p:spPr>
          <a:xfrm>
            <a:off x="2897289" y="2310946"/>
            <a:ext cx="678134" cy="313932"/>
          </a:xfrm>
          <a:prstGeom prst="rect">
            <a:avLst/>
          </a:prstGeom>
          <a:noFill/>
        </p:spPr>
        <p:txBody>
          <a:bodyPr wrap="none" lIns="18288" tIns="18288" rIns="18288" bIns="18288" rtlCol="0">
            <a:spAutoFit/>
          </a:bodyPr>
          <a:lstStyle/>
          <a:p>
            <a:pPr algn="ctr"/>
            <a:r>
              <a:rPr lang="en-US" b="1" dirty="0">
                <a:solidFill>
                  <a:srgbClr val="FFFF66"/>
                </a:solidFill>
              </a:rPr>
              <a:t>Baffle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726047-CE7A-B307-71FA-62D193734279}"/>
              </a:ext>
            </a:extLst>
          </p:cNvPr>
          <p:cNvSpPr txBox="1"/>
          <p:nvPr/>
        </p:nvSpPr>
        <p:spPr>
          <a:xfrm>
            <a:off x="3819665" y="3838507"/>
            <a:ext cx="306238" cy="313932"/>
          </a:xfrm>
          <a:prstGeom prst="rect">
            <a:avLst/>
          </a:prstGeom>
          <a:noFill/>
        </p:spPr>
        <p:txBody>
          <a:bodyPr wrap="none" lIns="18288" tIns="18288" rIns="18288" bIns="18288" rtlCol="0">
            <a:spAutoFit/>
          </a:bodyPr>
          <a:lstStyle/>
          <a:p>
            <a:pPr algn="ctr"/>
            <a:r>
              <a:rPr lang="en-US" b="1" dirty="0">
                <a:solidFill>
                  <a:srgbClr val="FFFF66"/>
                </a:solidFill>
              </a:rPr>
              <a:t>L2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C95BDD-7E39-3B92-9CF5-04680C78CB8A}"/>
              </a:ext>
            </a:extLst>
          </p:cNvPr>
          <p:cNvSpPr txBox="1"/>
          <p:nvPr/>
        </p:nvSpPr>
        <p:spPr>
          <a:xfrm>
            <a:off x="2443240" y="2440319"/>
            <a:ext cx="306239" cy="313932"/>
          </a:xfrm>
          <a:prstGeom prst="rect">
            <a:avLst/>
          </a:prstGeom>
          <a:noFill/>
        </p:spPr>
        <p:txBody>
          <a:bodyPr wrap="none" lIns="18288" tIns="18288" rIns="18288" bIns="18288" rtlCol="0">
            <a:spAutoFit/>
          </a:bodyPr>
          <a:lstStyle/>
          <a:p>
            <a:pPr algn="ctr"/>
            <a:r>
              <a:rPr lang="en-US" b="1" dirty="0">
                <a:solidFill>
                  <a:srgbClr val="FFFF66"/>
                </a:solidFill>
              </a:rPr>
              <a:t>L1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AE69C02-6918-8504-FCDF-B13DE182618F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2749479" y="2597285"/>
            <a:ext cx="239415" cy="159348"/>
          </a:xfrm>
          <a:prstGeom prst="straightConnector1">
            <a:avLst/>
          </a:prstGeom>
          <a:ln w="25400">
            <a:solidFill>
              <a:srgbClr val="FFFF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41942E5-F7BF-AB15-B3A7-97BB6240D790}"/>
              </a:ext>
            </a:extLst>
          </p:cNvPr>
          <p:cNvSpPr txBox="1"/>
          <p:nvPr/>
        </p:nvSpPr>
        <p:spPr>
          <a:xfrm>
            <a:off x="4095446" y="3359347"/>
            <a:ext cx="367152" cy="313932"/>
          </a:xfrm>
          <a:prstGeom prst="rect">
            <a:avLst/>
          </a:prstGeom>
          <a:noFill/>
        </p:spPr>
        <p:txBody>
          <a:bodyPr wrap="none" lIns="18288" tIns="18288" rIns="18288" bIns="18288" rtlCol="0">
            <a:spAutoFit/>
          </a:bodyPr>
          <a:lstStyle/>
          <a:p>
            <a:pPr algn="ctr"/>
            <a:r>
              <a:rPr lang="en-US" b="1" dirty="0">
                <a:solidFill>
                  <a:srgbClr val="FFFF66"/>
                </a:solidFill>
              </a:rPr>
              <a:t>ND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7196D3D-6707-37FD-D290-68BE883E1E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94"/>
          <a:stretch>
            <a:fillRect/>
          </a:stretch>
        </p:blipFill>
        <p:spPr>
          <a:xfrm>
            <a:off x="8372690" y="638245"/>
            <a:ext cx="3181627" cy="2190697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F17A76FA-4F40-691F-FD82-C826E67CF53A}"/>
              </a:ext>
            </a:extLst>
          </p:cNvPr>
          <p:cNvSpPr txBox="1"/>
          <p:nvPr/>
        </p:nvSpPr>
        <p:spPr>
          <a:xfrm>
            <a:off x="8867376" y="58966"/>
            <a:ext cx="2720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VSG2 Test Article: Deformable Mirror (DM)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815C15C-6F01-DFCA-0E85-478ADABA7596}"/>
              </a:ext>
            </a:extLst>
          </p:cNvPr>
          <p:cNvCxnSpPr>
            <a:cxnSpLocks/>
          </p:cNvCxnSpPr>
          <p:nvPr/>
        </p:nvCxnSpPr>
        <p:spPr>
          <a:xfrm flipH="1">
            <a:off x="10243595" y="634453"/>
            <a:ext cx="61185" cy="7313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BC4CB603-0CB3-7977-DC04-CB4ED0DB7C7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8" r="4027"/>
          <a:stretch/>
        </p:blipFill>
        <p:spPr>
          <a:xfrm rot="5400000">
            <a:off x="6432097" y="3609657"/>
            <a:ext cx="3478990" cy="2758672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D778495B-6AFB-D211-F9EA-9833C679B041}"/>
              </a:ext>
            </a:extLst>
          </p:cNvPr>
          <p:cNvSpPr txBox="1"/>
          <p:nvPr/>
        </p:nvSpPr>
        <p:spPr>
          <a:xfrm>
            <a:off x="7083405" y="2874302"/>
            <a:ext cx="217637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VSG2 Chamber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F2A0C5E-0E09-9357-01E5-478AF2EA95D6}"/>
              </a:ext>
            </a:extLst>
          </p:cNvPr>
          <p:cNvSpPr txBox="1"/>
          <p:nvPr/>
        </p:nvSpPr>
        <p:spPr>
          <a:xfrm>
            <a:off x="1724505" y="1233596"/>
            <a:ext cx="357024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VSG2 Bench Inside Chamber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B59147DE-BA03-60AE-7695-EFD7C2DE769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53"/>
          <a:stretch/>
        </p:blipFill>
        <p:spPr>
          <a:xfrm rot="16200000" flipH="1" flipV="1">
            <a:off x="9035127" y="3903717"/>
            <a:ext cx="3484853" cy="2170551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B69D1645-19F0-72F5-306A-9D13BB4512FE}"/>
              </a:ext>
            </a:extLst>
          </p:cNvPr>
          <p:cNvSpPr txBox="1"/>
          <p:nvPr/>
        </p:nvSpPr>
        <p:spPr>
          <a:xfrm>
            <a:off x="9686456" y="2874302"/>
            <a:ext cx="217637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VSG2 Rack</a:t>
            </a:r>
          </a:p>
        </p:txBody>
      </p:sp>
    </p:spTree>
    <p:extLst>
      <p:ext uri="{BB962C8B-B14F-4D97-AF65-F5344CB8AC3E}">
        <p14:creationId xmlns:p14="http://schemas.microsoft.com/office/powerpoint/2010/main" val="1249511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2518</TotalTime>
  <Words>226</Words>
  <Application>Microsoft Office PowerPoint</Application>
  <PresentationFormat>Widescreen</PresentationFormat>
  <Paragraphs>44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VSG2 Basic Information</vt:lpstr>
      <vt:lpstr>VSG2 In Picture</vt:lpstr>
    </vt:vector>
  </TitlesOfParts>
  <Company>JPL ITSD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Shi, Fang (US 383E)</dc:creator>
  <cp:lastModifiedBy>Shi, Fang (US 364E)</cp:lastModifiedBy>
  <cp:revision>59</cp:revision>
  <dcterms:created xsi:type="dcterms:W3CDTF">2025-12-08T18:58:57Z</dcterms:created>
  <dcterms:modified xsi:type="dcterms:W3CDTF">2026-07-20T17:43:07Z</dcterms:modified>
</cp:coreProperties>
</file>