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6 m unobscured coronagraph, end to end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optical design, its segmentation, its instrument, its error budget and its drift — one model, one train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Conventions, stated once.  Wavefront error is RMS at 500 nm, referenced to the exit pupil of the configuration being quoted — the telescope's own for the telescope-only slides, the coronagraph's once the instrument is attached.  Contrast is the dark-zone mean over 3–15 λ/D, normalised to the bare on-axis peak of the same train.  The diffraction limit is 0.071 waves RMS.  Packaging is a deployed, diameter-only fit in an 8 m launch shroud; length is free.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Built with MACOS / mmacos.  Every number on these slides is parsed from the committed stage reports; no figure was redrawn for the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telescope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0.0473 waves RMS across the field — diffraction-limited at 500 nm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design.</a:t>
            </a:r>
            <a:r>
              <a:rPr sz="1200" b="0">
                <a:solidFill>
                  <a:srgbClr val="282828"/>
                </a:solidFill>
                <a:latin typeface="Arial"/>
              </a:rPr>
              <a:t> A 6 m unobscured three-mirror telescope: three base spheres placed for packaging, fold tilts doing the unobscuration, all correction carried by Zernike surface departures. Field ±0.35 arcmin.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wavefront.</a:t>
            </a:r>
            <a:r>
              <a:rPr sz="1200" b="0">
                <a:solidFill>
                  <a:srgbClr val="282828"/>
                </a:solidFill>
                <a:latin typeface="Arial"/>
              </a:rPr>
              <a:t> 0.0473 waves RMS worst case over the field, against a 0.071-wave diffraction limit.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packaging.</a:t>
            </a:r>
            <a:r>
              <a:rPr sz="1200" b="0">
                <a:solidFill>
                  <a:srgbClr val="282828"/>
                </a:solidFill>
                <a:latin typeface="Arial"/>
              </a:rPr>
              <a:t> 7.450 m diameter against the 8 m shroud, over a 17.37 m train; 4/4 bodies clear of every beam; 1185/1185 rays survive a standalone reload of the saved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 miss.</a:t>
            </a:r>
            <a:r>
              <a:rPr sz="1200" b="0">
                <a:solidFill>
                  <a:srgbClr val="282828"/>
                </a:solidFill>
                <a:latin typeface="Arial"/>
              </a:rPr>
              <a:t> Focal ratio f/25.39 against a requested f/12–20. It is not a tuning failure — see the backup.</a:t>
            </a:r>
          </a:p>
        </p:txBody>
      </p:sp>
      <p:pic>
        <p:nvPicPr>
          <p:cNvPr id="5" name="Picture 4" descr="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0220" y="1298448"/>
            <a:ext cx="4236119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three-mirror train: light enters from the left, folds back to the secondary, returns past the primary to the tertiary and the focus.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463" y="4096512"/>
            <a:ext cx="2785632" cy="2367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482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design field. Worst corner 0.0473 waves.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segmented primary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19 segments, and a poke that stays where it is 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segmentation.</a:t>
            </a:r>
            <a:r>
              <a:rPr sz="1200" b="0">
                <a:solidFill>
                  <a:srgbClr val="282828"/>
                </a:solidFill>
                <a:latin typeface="Arial"/>
              </a:rPr>
              <a:t> 19 hexagonal segments, 1.2 m flat to flat, 25 mm gaps, each carrying the parent's solved figure and its own physical polygonal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apertures are real.</a:t>
            </a:r>
            <a:r>
              <a:rPr sz="1200" b="0">
                <a:solidFill>
                  <a:srgbClr val="282828"/>
                </a:solidFill>
                <a:latin typeface="Arial"/>
              </a:rPr>
              <a:t> Each segment declares its polygon, and 983 of 985 traced rays survive them; the two that clip land on a gap edge. Reloading the saved prescription standalone reproduces 983/985 — the check that catches a wrongly-framed aperture, which otherwise fails silently on disk.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check that matters.</a:t>
            </a:r>
            <a:r>
              <a:rPr sz="1200" b="0">
                <a:solidFill>
                  <a:srgbClr val="282828"/>
                </a:solidFill>
                <a:latin typeface="Arial"/>
              </a:rPr>
              <a:t> Displace one segment by 10 nm along its normal: the wavefront responds 19.91 nm over the 52 rays that land on it and </a:t>
            </a:r>
            <a:r>
              <a:rPr sz="1200" b="1">
                <a:solidFill>
                  <a:srgbClr val="282828"/>
                </a:solidFill>
                <a:latin typeface="Arial"/>
              </a:rPr>
              <a:t>exactly zero</a:t>
            </a:r>
            <a:r>
              <a:rPr sz="1200" b="0">
                <a:solidFill>
                  <a:srgbClr val="282828"/>
                </a:solidFill>
                <a:latin typeface="Arial"/>
              </a:rPr>
              <a:t> over the other 930. The response stays on the segment that moved — which is what makes a per-segment error budget mean anything.</a:t>
            </a:r>
          </a:p>
        </p:txBody>
      </p:sp>
      <p:pic>
        <p:nvPicPr>
          <p:cNvPr id="5" name="Picture 4" descr="s2_i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158" y="1298448"/>
            <a:ext cx="2964242" cy="2422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393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telescope: 19 hexagons on the primary, feeding the same fold train.</a:t>
            </a:r>
          </a:p>
        </p:txBody>
      </p:sp>
      <p:pic>
        <p:nvPicPr>
          <p:cNvPr id="7" name="Picture 6" descr="s2_segmented_footpr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9349" y="4005072"/>
            <a:ext cx="2217860" cy="229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3174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Traced footprints against the emitted aperture polygons. Colour is the segment a ray landed on; black is the declared glass.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prescription, 29 elements, and 1 mm of extra shroud diameter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train.</a:t>
            </a:r>
            <a:r>
              <a:rPr sz="1200" b="0">
                <a:solidFill>
                  <a:srgbClr val="282828"/>
                </a:solidFill>
                <a:latin typeface="Arial"/>
              </a:rPr>
              <a:t> A four-mirror relay off the telescope focus: collimate to an accessible pupil, focus to the mask, re-collimate to the Lyot stop, focus to the detector. Spliced onto the segmented telescope as 29 elements of one prescription — not a second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one train.</a:t>
            </a:r>
            <a:r>
              <a:rPr sz="1200" b="0">
                <a:solidFill>
                  <a:srgbClr val="282828"/>
                </a:solidFill>
                <a:latin typeface="Arial"/>
              </a:rPr>
              <a:t> Only a single model carries a telescope perturbation through to a contrast number. That is what stages four and five then use.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It fits.</a:t>
            </a:r>
            <a:r>
              <a:rPr sz="1200" b="0">
                <a:solidFill>
                  <a:srgbClr val="282828"/>
                </a:solidFill>
                <a:latin typeface="Arial"/>
              </a:rPr>
              <a:t> 7.451 m against the 8 m shroud, 983 rays through, and the relay lives inside the annulus the fold optics already occupy.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It is faithful.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chief ray through the diffraction model agrees with the geometric one to 1.2e-15 m.</a:t>
            </a:r>
          </a:p>
        </p:txBody>
      </p:sp>
      <p:pic>
        <p:nvPicPr>
          <p:cNvPr id="5" name="Picture 4" descr="s3_seg_shr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900" y="1298448"/>
            <a:ext cx="3854758" cy="39771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29386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folded observatory seen down the launch axis, inside the 8 m shroud circle.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the segment gaps cost the coronagraph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2390× in dark-zone contrast, same mask on both apertures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measurement.</a:t>
            </a:r>
            <a:r>
              <a:rPr sz="1200" b="0">
                <a:solidFill>
                  <a:srgbClr val="282828"/>
                </a:solidFill>
                <a:latin typeface="Arial"/>
              </a:rPr>
              <a:t> The same apodized pupil Lyot coronagraph — same apodizer, same 2.8 λ/D occulter, same Lyot stop — run on the segmented primary and on a monolithic version of the identical telescope.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Segmented:</a:t>
            </a:r>
            <a:r>
              <a:rPr sz="1200" b="0">
                <a:solidFill>
                  <a:srgbClr val="282828"/>
                </a:solidFill>
                <a:latin typeface="Arial"/>
              </a:rPr>
              <a:t> 8.700e-07 mean contrast, 6.17e+03 on-axis suppression.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Monolithic:</a:t>
            </a:r>
            <a:r>
              <a:rPr sz="1200" b="0">
                <a:solidFill>
                  <a:srgbClr val="282828"/>
                </a:solidFill>
                <a:latin typeface="Arial"/>
              </a:rPr>
              <a:t> 3.640e-10 mean, 2.82e+07 suppression.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ratio is the gaps and nothing else</a:t>
            </a:r>
            <a:r>
              <a:rPr sz="1200" b="0">
                <a:solidFill>
                  <a:srgbClr val="282828"/>
                </a:solidFill>
                <a:latin typeface="Arial"/>
              </a:rPr>
              <a:t> — 2390× in the mean, 8573× in the median. Both trains share the same wavefront; only the pupil's structure differs.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monolithic result independently reproduces the reference testbed's clear-pupil number, with nothing tuned to match it.</a:t>
            </a:r>
          </a:p>
        </p:txBody>
      </p:sp>
      <p:pic>
        <p:nvPicPr>
          <p:cNvPr id="5" name="Picture 4" descr="s3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583" y="1298448"/>
            <a:ext cx="4949392" cy="3812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128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contrast, both apertures, dark zone shaded. The segmented curve plateaus where the monolithic one keeps falling — that plateau is light scattered by the gaps.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error budget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Moving 19 segments as one body is not 19 times moving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model.</a:t>
            </a:r>
            <a:r>
              <a:rPr sz="1200" b="0">
                <a:solidFill>
                  <a:srgbClr val="282828"/>
                </a:solidFill>
                <a:latin typeface="Arial"/>
              </a:rPr>
              <a:t> Wavefront sensitivity to every rigid-body freedom of 25 optics, to each segment's figure modes, and to a per-segment influence basis: 156 + 152 + 114 channels over five field points.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exhibit.</a:t>
            </a:r>
            <a:r>
              <a:rPr sz="1200" b="0">
                <a:solidFill>
                  <a:srgbClr val="282828"/>
                </a:solidFill>
                <a:latin typeface="Arial"/>
              </a:rPr>
              <a:t> The 19 segments were also perturbed as a single rigid body. Comparing that with a single segment's response separates three different behaviours — in one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Tilt</a:t>
            </a:r>
            <a:r>
              <a:rPr sz="1200" b="0">
                <a:solidFill>
                  <a:srgbClr val="282828"/>
                </a:solidFill>
                <a:latin typeface="Arial"/>
              </a:rPr>
              <a:t> adds up: ratio 19.3, the member count. A per-segment budget is right.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Piston</a:t>
            </a:r>
            <a:r>
              <a:rPr sz="1200" b="0">
                <a:solidFill>
                  <a:srgbClr val="282828"/>
                </a:solidFill>
                <a:latin typeface="Arial"/>
              </a:rPr>
              <a:t> cancels: ratio 0.032. Moving all 19 together is nearly a global piston, which the reference removes — a per-segment budget overstates the assembly by about 31×.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Clocking</a:t>
            </a:r>
            <a:r>
              <a:rPr sz="1200" b="0">
                <a:solidFill>
                  <a:srgbClr val="282828"/>
                </a:solidFill>
                <a:latin typeface="Arial"/>
              </a:rPr>
              <a:t> is invisible per segment and real for the assembly: ratio 111004.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Not every freedom is observable.</a:t>
            </a:r>
            <a:r>
              <a:rPr sz="1200" b="0">
                <a:solidFill>
                  <a:srgbClr val="282828"/>
                </a:solidFill>
                <a:latin typeface="Arial"/>
              </a:rPr>
              <a:t> The 114 segment rigid-body channels span a range of 2.16e+06 in singular value: a wavefront measurement constrains far fewer directions than there are freedoms, which is what makes the correction in the next slide a solved problem rather than an inversion.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1840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0972"/>
                <a:gridCol w="1993789"/>
                <a:gridCol w="2580198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assembly response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assembly / one segment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2.756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19.32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2.74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19.17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0.2706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1.11e+05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0.07168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19.24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0.07054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0.01437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0.0322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8498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Column RMS of wavefront change per unit motion; rotations per radian, translations per metre, the same convention on both sides.</a:t>
            </a:r>
          </a:p>
        </p:txBody>
      </p:sp>
      <p:pic>
        <p:nvPicPr>
          <p:cNvPr id="7" name="Picture 6" descr="s4_sv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9267" y="3808476"/>
            <a:ext cx="3318025" cy="24404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26719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Singular values of the three Jacobians, largest normalised to one. Rigid-body motion (blue) collapses by seven decades; the figure and influence bases stay within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observatory drifts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Contrast tracks the wavefront, 8.60e-07 to 2.08e-06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history.</a:t>
            </a:r>
            <a:r>
              <a:rPr sz="1200" b="0">
                <a:solidFill>
                  <a:srgbClr val="282828"/>
                </a:solidFill>
                <a:latin typeface="Arial"/>
              </a:rPr>
              <a:t> 41 frames at 10 s — a 7-minute soak — with a random walk plus a correlated drift on every freedom of all 19 segments, played through the engine.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Uncorrected:</a:t>
            </a:r>
            <a:r>
              <a:rPr sz="1200" b="0">
                <a:solidFill>
                  <a:srgbClr val="282828"/>
                </a:solidFill>
                <a:latin typeface="Arial"/>
              </a:rPr>
              <a:t> wavefront 0.0046 to 0.0243 waves; contrast 8.601e-07 to 2.078e-06.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Corrected:</a:t>
            </a:r>
            <a:r>
              <a:rPr sz="1200" b="0">
                <a:solidFill>
                  <a:srgbClr val="282828"/>
                </a:solidFill>
                <a:latin typeface="Arial"/>
              </a:rPr>
              <a:t> 0.0035 to 0.0231 waves; contrast 9.213e-07 to 1.990e-06. One image-based correction, solved early and held.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benefit fades.</a:t>
            </a:r>
            <a:r>
              <a:rPr sz="1200" b="0">
                <a:solidFill>
                  <a:srgbClr val="282828"/>
                </a:solidFill>
                <a:latin typeface="Arial"/>
              </a:rPr>
              <a:t> The correction is never updated, so it decays as the state walks away from where it was solved. That is the shape of a held correction, not a modelling artefact.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Each contrast point is a full diffraction propagation through the mask chain, so the timeline is sampled every 5 frames (9 of 41).</a:t>
            </a:r>
          </a:p>
        </p:txBody>
      </p:sp>
      <p:pic>
        <p:nvPicPr>
          <p:cNvPr id="5" name="Picture 4" descr="s5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39801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296933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and contrast against time, corrected and uncorrected.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demonstrates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model, from surface figure to science contrast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design becomes an instrument becomes an error budget becomes a time series</a:t>
            </a:r>
            <a:r>
              <a:rPr sz="1200" b="0">
                <a:solidFill>
                  <a:srgbClr val="282828"/>
                </a:solidFill>
                <a:latin typeface="Arial"/>
              </a:rPr>
              <a:t>, without leaving the model or re-entering the geometry anywhere.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gap penalty is measured, not assumed</a:t>
            </a:r>
            <a:r>
              <a:rPr sz="1200" b="0">
                <a:solidFill>
                  <a:srgbClr val="282828"/>
                </a:solidFill>
                <a:latin typeface="Arial"/>
              </a:rPr>
              <a:t>: 2390×, from two runs that differ in one thing.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Assembly-level freedoms behave differently from their members</a:t>
            </a:r>
            <a:r>
              <a:rPr sz="1200" b="0">
                <a:solidFill>
                  <a:srgbClr val="282828"/>
                </a:solidFill>
                <a:latin typeface="Arial"/>
              </a:rPr>
              <a:t> — by a factor 31 in one direction and 111004 in another — and the model shows which.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Every gate is in the record.</a:t>
            </a:r>
            <a:r>
              <a:rPr sz="1200" b="0">
                <a:solidFill>
                  <a:srgbClr val="282828"/>
                </a:solidFill>
                <a:latin typeface="Arial"/>
              </a:rPr>
              <a:t> Where something did not close, the deck says so and prices it.</a:t>
            </a:r>
          </a:p>
        </p:txBody>
      </p:sp>
      <p:pic>
        <p:nvPicPr>
          <p:cNvPr id="5" name="Picture 4" descr="s3_i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688336"/>
            <a:ext cx="5394960" cy="32245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93119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modelled observatory: 19 segments, three telescope mirrors and the instrument relay, in one prescription.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Focal ratio: why f/25.4 and not f/12–20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corrected focal ratio is not a continuous function of the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surface-figure solve spends optical power, so the focal ratio of the corrected system differs from that of the base spheres. It has to be read on the corrected system.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search on the tertiary radius refused after five iterates. Two neighbouring layouts, 0.36% apart in that radius, gave f/15.54 and f/25.74; widening the sweep gave f/20.09, f/8.56, f/26.90, f/25.39 at four nearby values.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solve lands in different basins depending on the starting geometry, and each spends a different amount of power. No continuous search steers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Narrowing the design field does not help either: at fixed geometry, halving the field made the residual worse.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 point was therefore chosen on wavefront</a:t>
            </a:r>
            <a:r>
              <a:rPr sz="1200" b="0">
                <a:solidFill>
                  <a:srgbClr val="282828"/>
                </a:solidFill>
                <a:latin typeface="Arial"/>
              </a:rPr>
              <a:t>, which it meets. A slower focal ratio also puts more λ/D on the focal-plane mask, which eases the hardest fabrication in the instrument.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Linear model against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Only piston reproduces; control was restricted to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Poking each freedom and comparing the engine's wavefront change with the sensitivity model: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Piston agrees to better than 1%. Every other freedom disagrees, by factors of 1–57.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ladder over three decades of poke size separates two behaviours: the centre segment's tilt response is purely second-order, while an outer segment's is linear but 3.8× the model. Neither is a 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Ruled out by measurement: the wavefront reference. Repeating the ladder with the other reference reproduces every number to five digits.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Consequence.</a:t>
            </a:r>
            <a:r>
              <a:rPr sz="1200" b="0">
                <a:solidFill>
                  <a:srgbClr val="282828"/>
                </a:solidFill>
                <a:latin typeface="Arial"/>
              </a:rPr>
              <a:t> With all six freedoms in the control basis the corrected leg came out worse than the uncorrected one. Control was restricted to the freedom that reproduces; the drift still moves all six.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1840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326"/>
                <a:gridCol w="1244990"/>
                <a:gridCol w="1244990"/>
                <a:gridCol w="193665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engine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relative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2.482e-12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1.419e-10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56.9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9.257e-10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1.426e-10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7.950e-14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9.395e-15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2.389e-11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3.682e-12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6.640e-14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3.679e-12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4.466e-10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4.440e-10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0.00614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8498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RMS wavefront change, in metres, for a 1 nm / 1 nrad poke of a single segment. Open item: two untested candidates remain — the focal-plane tracking used when the sensitivities were harvested, and the real-ray stop aiming, which would explain why the centre segment — the one the chief ray lands on — is the anomalous case.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is not in this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Stated, not omitted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No deformable mirrors and no field stop.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reference testbed model carries both. Without them the contrast here is an open-loop number — what the optics deliver, not what a wavefront-control loop would hold — and the dark zone is not the annulus two deformable mirrors would give.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No metrology loop.</a:t>
            </a:r>
            <a:r>
              <a:rPr sz="1200" b="0">
                <a:solidFill>
                  <a:srgbClr val="282828"/>
                </a:solidFill>
                <a:latin typeface="Arial"/>
              </a:rPr>
              <a:t> The correction in the drift series is image-based: it sees the wavefront directly rather than estimating it from a truss. The corrected leg is therefore an optimistic bound.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coronagraph mask is a clear-pupil design.</a:t>
            </a:r>
            <a:r>
              <a:rPr sz="1200" b="0">
                <a:solidFill>
                  <a:srgbClr val="282828"/>
                </a:solidFill>
                <a:latin typeface="Arial"/>
              </a:rPr>
              <a:t> Re-optimising it for a segmented aperture is a known and separate piece of work; the 2390× above is the size of the prize.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additions are existing primitives in the toolkit, so the extension is configuration rather than new machinery.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to reproduce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on these slides comes from these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s1_layout_search then s1_telescope — the layout pick and the telescope.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s2_segmentation — the segmented primary and its edge-sensor sidecar.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s3_backend, s3_train_fig then s3_coro — the instrument, its layout render, and the coronagraph on both apertures.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s4_sensitivities — the error budget, roughly half an hour.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s5_timeseries — the drift series.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python3 deck_e2e6m.py — this deck, from the reports those runs wrote.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364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knobs live in one parameter file. The narrative record — every question raised, every decision and its result, every gate outcome — is in the campaign log beside the runners.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