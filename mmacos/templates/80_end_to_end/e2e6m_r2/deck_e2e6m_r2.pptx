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A 6 m unobscured coronagraph, end to end — with the loop closed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An optical design, its segmentation, its instrument with deformable mirrors and metrology, its error budget and its corrected drift — one model, one train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Conventions, stated once.  Wavefront error is RMS at 500 nm at the exit pupil of the configuration being quoted — the telescope's own for the telescope-only slides, the coronagraph's once the instrument is attached (and every model-vs-engine check is evaluated at the surface its sensitivity model was harvested at).  Contrast is the dark-zone mean over 3–15 λ/D, normalised to the bare on-axis peak of the same train; static scoring at a 1024 grid, the drift series at 512 (its control operator's grid).  The diffraction limit is 0.071 waves RMS.  Packaging is a deployed, diameter-only fit in an 8 m launch shroud.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Built with MACOS / mmacos.  Every number on these slides is parsed from the committed stage reports; no figure was redrawn for the deck.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DRAFT (2026-08-27): the coronagraph-family slides (families / floors / Lyot trade) await Dave's review of the CF1c-CF3a numbers.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telescope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0.0473 waves RMS across the field — diffraction-limited at 500 nm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design.</a:t>
            </a:r>
            <a:r>
              <a:rPr sz="1200" b="0">
                <a:solidFill>
                  <a:srgbClr val="282828"/>
                </a:solidFill>
                <a:latin typeface="Arial"/>
              </a:rPr>
              <a:t> A 6 m unobscured three-mirror telescope: three base spheres placed for packaging, fold tilts doing the unobscuration, all correction carried by Zernike surface departures.  Field ±0.35 arcmin.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wavefront.</a:t>
            </a:r>
            <a:r>
              <a:rPr sz="1200" b="0">
                <a:solidFill>
                  <a:srgbClr val="282828"/>
                </a:solidFill>
                <a:latin typeface="Arial"/>
              </a:rPr>
              <a:t> 0.0473 waves RMS worst case over the field, against a 0.071-wave diffraction limit.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packaging.</a:t>
            </a:r>
            <a:r>
              <a:rPr sz="1200" b="0">
                <a:solidFill>
                  <a:srgbClr val="282828"/>
                </a:solidFill>
                <a:latin typeface="Arial"/>
              </a:rPr>
              <a:t> 7.450 m diameter against the 8 m shroud; 1185/1185 rays survive a standalone reload of the saved prescription.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one miss.</a:t>
            </a:r>
            <a:r>
              <a:rPr sz="1200" b="0">
                <a:solidFill>
                  <a:srgbClr val="282828"/>
                </a:solidFill>
                <a:latin typeface="Arial"/>
              </a:rPr>
              <a:t> Focal ratio f/25.39 against a requested f/12–20; not a tuning failure — see the backup.</a:t>
            </a:r>
          </a:p>
        </p:txBody>
      </p:sp>
      <p:pic>
        <p:nvPicPr>
          <p:cNvPr id="5" name="Picture 4" descr="s1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220" y="1298448"/>
            <a:ext cx="4236119" cy="2348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66572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three-mirror train: light enters from the left, folds back to the secondary, returns past the primary to the tertiary and the focus.</a:t>
            </a:r>
          </a:p>
        </p:txBody>
      </p:sp>
      <p:pic>
        <p:nvPicPr>
          <p:cNvPr id="7" name="Picture 6" descr="s1_wfe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463" y="4096512"/>
            <a:ext cx="2785632" cy="23677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648258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Wavefront error over the design field.  Worst corner 0.0473 waves.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segmented primary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19 segments, and a poke that stays where it is 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segmentation.</a:t>
            </a:r>
            <a:r>
              <a:rPr sz="1200" b="0">
                <a:solidFill>
                  <a:srgbClr val="282828"/>
                </a:solidFill>
                <a:latin typeface="Arial"/>
              </a:rPr>
              <a:t> 19 hexagonal segments, 1.2 m flat to flat, 25 mm gaps, each carrying the parent's solved figure and its own physical polygonal aperture.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apertures are real.</a:t>
            </a:r>
            <a:r>
              <a:rPr sz="1200" b="0">
                <a:solidFill>
                  <a:srgbClr val="282828"/>
                </a:solidFill>
                <a:latin typeface="Arial"/>
              </a:rPr>
              <a:t> 983 of 985 traced rays survive the declared polygons, and a standalone reload reproduces the count — the check that catches a wrongly-framed aperture.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check that matters.</a:t>
            </a:r>
            <a:r>
              <a:rPr sz="1200" b="0">
                <a:solidFill>
                  <a:srgbClr val="282828"/>
                </a:solidFill>
                <a:latin typeface="Arial"/>
              </a:rPr>
              <a:t> Displace one segment 10 nm along its normal: the wavefront responds 19.91 nm over the 52 rays on that segment and exactly zero over the other 930.</a:t>
            </a:r>
          </a:p>
        </p:txBody>
      </p:sp>
      <p:pic>
        <p:nvPicPr>
          <p:cNvPr id="5" name="Picture 4" descr="s2_segmented_foot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628" y="1298448"/>
            <a:ext cx="3685302" cy="381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12876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Traced footprints against the emitted aperture polygons.  Colour is the segment a ray landed on; black is the declared glass.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instrument, in light order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Eight relay mirrors, two deformable mirrors, five mask and pupil stations, two cameras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One train.</a:t>
            </a:r>
            <a:r>
              <a:rPr sz="1200" b="0">
                <a:solidFill>
                  <a:srgbClr val="282828"/>
                </a:solidFill>
                <a:latin typeface="Arial"/>
              </a:rPr>
              <a:t> From the segmented primary through the fold train to the collimated pupil, then the coronagraph leg — DMs, apodizer, occulter, Lyot, field stop, back-end pupil, detector — with a deployable pick-off feeding the imager.  Spliced as 37 elements of one prescription; 983/985 rays, the telescope's own count.</a:t>
            </a:r>
          </a:p>
        </p:txBody>
      </p:sp>
      <p:pic>
        <p:nvPicPr>
          <p:cNvPr id="5" name="Picture 4" descr="r2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39" y="2069591"/>
            <a:ext cx="9867016" cy="33370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424931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Light order through both instruments, read from the prescriptions.  Orange marks the deformable mirrors, purple the mask and pupil sites, dashed the focus stations.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Two instruments, one shroud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second camera still costs nothing in diameter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coronagraph leg</a:t>
            </a:r>
            <a:r>
              <a:rPr sz="1200" b="0">
                <a:solidFill>
                  <a:srgbClr val="282828"/>
                </a:solidFill>
                <a:latin typeface="Arial"/>
              </a:rPr>
              <a:t> carries the science train: 37 elements, chief ray through the diffraction model agreeing with the geometric one to 5e-16.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imager leg.</a:t>
            </a:r>
            <a:r>
              <a:rPr sz="1200" b="0">
                <a:solidFill>
                  <a:srgbClr val="282828"/>
                </a:solidFill>
                <a:latin typeface="Arial"/>
              </a:rPr>
              <a:t> A deployable pick-off just after the collimator feeds its own f/19 camera: 0.0042 waves RMS, Strehl 0.9993 — unchanged from the round-1 stage that built it, because the pick-off sits upstream of everything round 2 added.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Both fit.</a:t>
            </a:r>
            <a:r>
              <a:rPr sz="1200" b="0">
                <a:solidFill>
                  <a:srgbClr val="282828"/>
                </a:solidFill>
                <a:latin typeface="Arial"/>
              </a:rPr>
              <a:t> 7.451 m against the 8 m shroud for either leg and for the union; the 6 m primary sets the envelope.</a:t>
            </a:r>
          </a:p>
        </p:txBody>
      </p:sp>
      <p:pic>
        <p:nvPicPr>
          <p:cNvPr id="5" name="Picture 4" descr="r1_union_shr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822" y="1298448"/>
            <a:ext cx="5332914" cy="38856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202427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Both legs down the launch axis, inside the 8 m shroud circle.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back end on its bench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Eight relay mirrors and two DMs in a 5.1 × 0.6 m accordion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drawing is to scale</a:t>
            </a:r>
            <a:r>
              <a:rPr sz="1200" b="0">
                <a:solidFill>
                  <a:srgbClr val="282828"/>
                </a:solidFill>
                <a:latin typeface="Arial"/>
              </a:rPr>
              <a:t>, in the plane the folds live in: the collimator, the DM pocket, then the mask relay — each mask plane sitting between its focus and pupil mirrors.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Near-normal folds</a:t>
            </a:r>
            <a:r>
              <a:rPr sz="1200" b="0">
                <a:solidFill>
                  <a:srgbClr val="282828"/>
                </a:solidFill>
                <a:latin typeface="Arial"/>
              </a:rPr>
              <a:t> (6°) keep each off-axis section gentle; folding every mirror to the same side ping-pongs the beam into a bench-sized pocket.  The other choice fans the chain 120° and breaks the shroud — measured, in the backup.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In the full train</a:t>
            </a:r>
            <a:r>
              <a:rPr sz="1200" b="0">
                <a:solidFill>
                  <a:srgbClr val="282828"/>
                </a:solidFill>
                <a:latin typeface="Arial"/>
              </a:rPr>
              <a:t> the back end is centimetre-class against the 6 m primary — the reason it gets its own drawing.</a:t>
            </a:r>
          </a:p>
        </p:txBody>
      </p:sp>
      <p:pic>
        <p:nvPicPr>
          <p:cNvPr id="5" name="Picture 4" descr="r2_back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60" cy="1324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640790"/>
            <a:ext cx="539496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back end in its fold plane, to scale.  Orange: the DMs at the collimated pupil.  Purple: apodizer, Lyot and back-end pupil sites.  White: the occulter and field-stop foci.</a:t>
            </a:r>
          </a:p>
        </p:txBody>
      </p:sp>
      <p:pic>
        <p:nvPicPr>
          <p:cNvPr id="7" name="Picture 6" descr="r2_train_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763" y="3236674"/>
            <a:ext cx="3359033" cy="24226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77614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full train for scale: the 6 m segmented primary and the beam it feeds.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masks, as physical objects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An occulter 2.8 λ/D across at a 500 nm focus is 27 µm of metal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occulter</a:t>
            </a:r>
            <a:r>
              <a:rPr sz="1200" b="0">
                <a:solidFill>
                  <a:srgbClr val="282828"/>
                </a:solidFill>
                <a:latin typeface="Arial"/>
              </a:rPr>
              <a:t> is an opaque disk of radius 2.8 λ/D at the intermediate focus — 27.3 µm physical radius at the measured 9.76 µm-per-λ/D focal scale, drawn from the same engine quantities the scoring chain uses.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apodizer</a:t>
            </a:r>
            <a:r>
              <a:rPr sz="1200" b="0">
                <a:solidFill>
                  <a:srgbClr val="282828"/>
                </a:solidFill>
                <a:latin typeface="Arial"/>
              </a:rPr>
              <a:t> is the clear-pupil prolate the coronagraph is scored with, shown as manufactured and as the light sees it — over the traced 19-segment pupil, gaps and all.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Both figures are the scoring masks rebuilt from the scoring parameters, not illustrations.</a:t>
            </a:r>
          </a:p>
        </p:txBody>
      </p:sp>
      <p:pic>
        <p:nvPicPr>
          <p:cNvPr id="5" name="Picture 4" descr="r2_apod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467" y="1298448"/>
            <a:ext cx="4315624" cy="198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29996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apodizer: the prolate transmission profile (left) and the same profile over the traced segmented pupil (right), mm at the 47 mm pupil.</a:t>
            </a:r>
          </a:p>
        </p:txBody>
      </p:sp>
      <p:pic>
        <p:nvPicPr>
          <p:cNvPr id="7" name="Picture 6" descr="r2_fpm_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993" y="3730752"/>
            <a:ext cx="2184573" cy="207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823712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focal-plane occulter, transmission against λ/D; the physical radius is stated on the figure.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deformable mirrors are real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20 nm actuator poke lands where it is put, at twice the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model.</a:t>
            </a:r>
            <a:r>
              <a:rPr sz="1200" b="0">
                <a:solidFill>
                  <a:srgbClr val="282828"/>
                </a:solidFill>
                <a:latin typeface="Arial"/>
              </a:rPr>
              <a:t> Two 32×32-actuator DMs as grid-data surfaces in their own frames, 880 actuators each inside the 47 mm beam, influence functions with nearest-neighbour coupling.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gate.</a:t>
            </a:r>
            <a:r>
              <a:rPr sz="1200" b="0">
                <a:solidFill>
                  <a:srgbClr val="282828"/>
                </a:solidFill>
                <a:latin typeface="Arial"/>
              </a:rPr>
              <a:t> One actuator poked 20 nm, half a pupil radius off centre: the exit-pupil wavefront answers with 3.92e-08 m peak against 4e-08 expected (twice the surface, for a mirror), 100% of the response energy within 0.15 pupil radii of the peak, peak at 0.53 radii off centre.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Why it is a gate.</a:t>
            </a:r>
            <a:r>
              <a:rPr sz="1200" b="0">
                <a:solidFill>
                  <a:srgbClr val="282828"/>
                </a:solidFill>
                <a:latin typeface="Arial"/>
              </a:rPr>
              <a:t> The failure mode of a wrongly-framed grid surface is a response painted at the pupil centre — localisation is the proof the actuator geometry is right.</a:t>
            </a:r>
          </a:p>
        </p:txBody>
      </p:sp>
      <p:pic>
        <p:nvPicPr>
          <p:cNvPr id="5" name="Picture 4" descr="r1_dm_p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773" y="1298448"/>
            <a:ext cx="4211012" cy="3720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03732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single-actuator response at the exit pupil: localised, off-centre, 2× the commanded surface.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the segment gaps cost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1298× in dark-zone contrast, same mask on both apertures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measurement.</a:t>
            </a:r>
            <a:r>
              <a:rPr sz="1200" b="0">
                <a:solidFill>
                  <a:srgbClr val="282828"/>
                </a:solidFill>
                <a:latin typeface="Arial"/>
              </a:rPr>
              <a:t> The same apodized-pupil Lyot coronagraph on the segmented primary and on a monolithic twin of the identical telescope.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Segmented:</a:t>
            </a:r>
            <a:r>
              <a:rPr sz="1200" b="0">
                <a:solidFill>
                  <a:srgbClr val="282828"/>
                </a:solidFill>
                <a:latin typeface="Arial"/>
              </a:rPr>
              <a:t> 4.705e-07 mean contrast, 6.18e+03 on-axis suppression.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Monolithic:</a:t>
            </a:r>
            <a:r>
              <a:rPr sz="1200" b="0">
                <a:solidFill>
                  <a:srgbClr val="282828"/>
                </a:solidFill>
                <a:latin typeface="Arial"/>
              </a:rPr>
              <a:t> 3.624e-10 mean, 2.82e+07 suppression.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ratio is the gaps and nothing else</a:t>
            </a:r>
            <a:r>
              <a:rPr sz="1200" b="0">
                <a:solidFill>
                  <a:srgbClr val="282828"/>
                </a:solidFill>
                <a:latin typeface="Arial"/>
              </a:rPr>
              <a:t> — 1298× in the mean, 3809× in the median; both trains share the same wavefront.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These are open-loop numbers: the DMs are flat here.  The loop slide prices what they buy.</a:t>
            </a:r>
          </a:p>
        </p:txBody>
      </p:sp>
      <p:pic>
        <p:nvPicPr>
          <p:cNvPr id="5" name="Picture 4" descr="r1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583" y="1298448"/>
            <a:ext cx="4949392" cy="381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12876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Radial contrast, both apertures, dark zone shaded.  The segmented curve plateaus where the monolithic one keeps falling — that plateau is gap-scattered light.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Six coronagraphs, one train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Pre-control: the apodized Lyot leads at 4.4e-07; the vortex pays the gaps ~40x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design rule that made them comparable.</a:t>
            </a:r>
            <a:r>
              <a:rPr sz="1200" b="0">
                <a:solidFill>
                  <a:srgbClr val="282828"/>
                </a:solidFill>
                <a:latin typeface="Arial"/>
              </a:rPr>
              <a:t>  On a segmented hex aperture the coronagraph's pupil is a CIRCULAR STOP at the apodizer plane — the telescope's hex envelope is upstream optics, not the coronagraph pupil.  Every family below sees the same circularized, gapped pupil; contrast normalizes to its bare peak, and the stop's ~8% collecting-area cost sits in the throughput column.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families (dark-zone mean, PRE-CONTROL | throughput):</a:t>
            </a:r>
            <a:r>
              <a:rPr sz="1200" b="0">
                <a:solidFill>
                  <a:srgbClr val="282828"/>
                </a:solidFill>
                <a:latin typeface="Arial"/>
              </a:rPr>
              <a:t> classical Lyot 3.50e-06 pre-control, 23% throughput; apodized Lyot 4.37e-07 pre-control, 9% throughput; APLC 2.18e-06 pre-control, 8% throughput (aperture-matched prolate: solver-limited, flag stands); band-limited 1.64e-06 pre-control, 12% throughput; vortex c4 1.64e-05 pre-control, 33% throughput; c6 1.87e-05 pre-control, 33% throughput — the vortex passes the segment-gap light the occulting families block.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stop's 2.16x on the bare occulter, attributed by measurement:</a:t>
            </a:r>
            <a:r>
              <a:rPr sz="1200" b="0">
                <a:solidFill>
                  <a:srgbClr val="282828"/>
                </a:solidFill>
                <a:latin typeface="Arial"/>
              </a:rPr>
              <a:t> entirely the stop edge at fixed masks (the scale re-reference contributes 1.00x); the Babinet split shows the edge enters by coherent INTERFERENCE with the gap field (cross 6.5e-06 vs the rim's own 2.5e-06) — coherent, hence in the loop's reach.  The next slide cashes that.</a:t>
            </a:r>
          </a:p>
        </p:txBody>
      </p:sp>
      <p:pic>
        <p:nvPicPr>
          <p:cNvPr id="5" name="Picture 4" descr="cf1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59" cy="2891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20774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six families, statics on the circularized segmented train.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loop on every family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All six floors sit within 2x of their own Jacobian's linear-achievable: the substrate speaks, not the controller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static -&gt; relin floor | linear-achievable at the achieved stroke:</a:t>
            </a:r>
            <a:r>
              <a:rPr sz="1200" b="0">
                <a:solidFill>
                  <a:srgbClr val="282828"/>
                </a:solidFill>
                <a:latin typeface="Arial"/>
              </a:rPr>
              <a:t> classical Lyot 3.5e-06 -&gt; 3.9e-07 | 2.1e-07; apodized Lyot 4.5e-07 -&gt; 1.1e-07 | 1.1e-07 (the campaign floor); APLC 1.1e-06 -&gt; 7.5e-07 | 7.5e-07; band-limited 1.6e-06 -&gt; 1.3e-06 | 7.2e-07; vortex c4 1.6e-05 -&gt; 5.4e-06 | 5.5e-06; c6 1.8e-05 -&gt; 3.9e-06 | 4.7e-06.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stopped occulter digs 8.9x where its no-stop self dug 5.2x</a:t>
            </a:r>
            <a:r>
              <a:rPr sz="1200" b="0">
                <a:solidFill>
                  <a:srgbClr val="282828"/>
                </a:solidFill>
                <a:latin typeface="Arial"/>
              </a:rPr>
              <a:t> — the loop claws back most of the coherent edge term the previous slide measured.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vortices are linear-optimal:</a:t>
            </a:r>
            <a:r>
              <a:rPr sz="1200" b="0">
                <a:solidFill>
                  <a:srgbClr val="282828"/>
                </a:solidFill>
                <a:latin typeface="Arial"/>
              </a:rPr>
              <a:t> relinearization pays 2.5-3.7x where the fixed Jacobian paid 1.2x (gap-chasing strokes reach the linearity boundary early), and the residual gap leak is uncontrollable at this amplitude authority.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knob is the DM spacing:</a:t>
            </a:r>
            <a:r>
              <a:rPr sz="1200" b="0">
                <a:solidFill>
                  <a:srgbClr val="282828"/>
                </a:solidFill>
                <a:latin typeface="Arial"/>
              </a:rPr>
              <a:t> z/z_T = 3.7e-03 at the outer working angle — Talbot-weak amplitude authority is the common ceiling; the spacing trade prices it.</a:t>
            </a:r>
          </a:p>
        </p:txBody>
      </p:sp>
      <p:pic>
        <p:nvPicPr>
          <p:cNvPr id="5" name="Picture 4" descr="cf2_flo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60" cy="251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832616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Convergence per family (relinearization joins at the dotted lines) and the closed-loop column.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Lyot trade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Throughput is bought with contrast on every leg; the operating points were chosen, not defaulted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sweep.</a:t>
            </a:r>
            <a:r>
              <a:rPr sz="1200" b="0">
                <a:solidFill>
                  <a:srgbClr val="282828"/>
                </a:solidFill>
                <a:latin typeface="Arial"/>
              </a:rPr>
              <a:t>  Lyot fraction against contrast AND throughput for the vortex legs and the apodized-Lyot leg, statics under the stop; stars mark the S1 operating points the campaign scored.</a:t>
            </a:r>
          </a:p>
        </p:txBody>
      </p:sp>
      <p:pic>
        <p:nvPicPr>
          <p:cNvPr id="5" name="Picture 4" descr="cf3a_ly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912" y="1871472"/>
            <a:ext cx="8563870" cy="36113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501131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Contrast vs Lyot fraction (left) and the contrast-throughput trade with the family operating points (right).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error budget closes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Engine vs model: worst 0.35% over a segment, a DM and a relay mirror, all six freedoms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model.</a:t>
            </a:r>
            <a:r>
              <a:rPr sz="1200" b="0">
                <a:solidFill>
                  <a:srgbClr val="282828"/>
                </a:solidFill>
                <a:latin typeface="Arial"/>
              </a:rPr>
              <a:t> Wavefront sensitivity to every rigid-body freedom of 31 optics — the segments, the fold mirrors, the relay and both DMs — plus segment figure modes and a per-segment influence basis: 192 + 152 + 114 channels over five field points.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closure check.</a:t>
            </a:r>
            <a:r>
              <a:rPr sz="1200" b="0">
                <a:solidFill>
                  <a:srgbClr val="282828"/>
                </a:solidFill>
                <a:latin typeface="Arial"/>
              </a:rPr>
              <a:t> Poke a segment, a DM and a relay mirror through the engine and compare with the model, at the surface the model was harvested at: worst relative error 0.0035 over 18 freedom pairs.  The matching check in the previous build disagreed by factors up to 55; the resolution is in the backup, and it was not the model.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assembly exhibit.</a:t>
            </a:r>
            <a:r>
              <a:rPr sz="1200" b="0">
                <a:solidFill>
                  <a:srgbClr val="282828"/>
                </a:solidFill>
                <a:latin typeface="Arial"/>
              </a:rPr>
              <a:t> The 19 segments perturbed as one body against one segment alone: tilt adds up (ratio 16.9), piston cancels (ratio 0.028), clocking is invisible per segment and real for the assembly.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9" cy="184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972"/>
                <a:gridCol w="1993789"/>
                <a:gridCol w="2580198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freedom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assembly response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assembly / one segment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2.619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16.88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2.506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16.12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0.2475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9.324e+04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0.06566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16.2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0.06706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16.6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Tz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0.0136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0.0282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28498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Column RMS of wavefront change per unit motion; rotations per radian, translations per metre.</a:t>
            </a:r>
          </a:p>
        </p:txBody>
      </p:sp>
      <p:pic>
        <p:nvPicPr>
          <p:cNvPr id="7" name="Picture 6" descr="r3_sv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837" y="3808476"/>
            <a:ext cx="2920884" cy="2148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975096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Singular values of the three Jacobians, largest normalised to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metrology truss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114 laser gauges + 252 edge sensors, validated against the engine to 0%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layout.</a:t>
            </a:r>
            <a:r>
              <a:rPr sz="1200" b="0">
                <a:solidFill>
                  <a:srgbClr val="282828"/>
                </a:solidFill>
                <a:latin typeface="Arial"/>
              </a:rPr>
              <a:t> Six launchers per segment on its true boundary, fiducials on the secondary's rim, plus inter-segment edge sensors — the committed metrology stage run on this telescope with this train's sensitivity model.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it buys.</a:t>
            </a:r>
            <a:r>
              <a:rPr sz="1200" b="0">
                <a:solidFill>
                  <a:srgbClr val="282828"/>
                </a:solidFill>
                <a:latin typeface="Arial"/>
              </a:rPr>
              <a:t> Post-control wavefront residual 0.86 nm per nm of gauge noise with edges and gauges together, against 0 for gauges alone — the edge sensors carry the segment-to-segment state.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Validated.</a:t>
            </a:r>
            <a:r>
              <a:rPr sz="1200" b="0">
                <a:solidFill>
                  <a:srgbClr val="282828"/>
                </a:solidFill>
                <a:latin typeface="Arial"/>
              </a:rPr>
              <a:t> The layout merit's finite-difference check closes at 0%, and a 200-draw Monte-Carlo estimate/control loop lands within 2.6% of the analytic residual.</a:t>
            </a:r>
          </a:p>
        </p:txBody>
      </p:sp>
      <p:pic>
        <p:nvPicPr>
          <p:cNvPr id="5" name="Picture 4" descr="r3_met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60" cy="3098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414799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as-built truss: beams from the 19 segments to the hub fiducials; edge sensors on the segment boundaries.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loop closes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dark zone held under drift: 2.5e-07 against 1.7e-06 open-loop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drift.</a:t>
            </a:r>
            <a:r>
              <a:rPr sz="1200" b="0">
                <a:solidFill>
                  <a:srgbClr val="282828"/>
                </a:solidFill>
                <a:latin typeface="Arial"/>
              </a:rPr>
              <a:t> 41 frames over 7 minutes: random walk plus correlated drift on every freedom of all 19 segments, played through the engine on the full train.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rigid-body loop.</a:t>
            </a:r>
            <a:r>
              <a:rPr sz="1200" b="0">
                <a:solidFill>
                  <a:srgbClr val="282828"/>
                </a:solidFill>
                <a:latin typeface="Arial"/>
              </a:rPr>
              <a:t> Edge and gauge readings, a weighted least-squares estimate, an integrating controller on all six freedoms of every segment: the state residual holds at 0.36 nm while the open-loop drift grows to 2.9 nm.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DM loop.</a:t>
            </a:r>
            <a:r>
              <a:rPr sz="1200" b="0">
                <a:solidFill>
                  <a:srgbClr val="282828"/>
                </a:solidFill>
                <a:latin typeface="Arial"/>
              </a:rPr>
              <a:t> The measured actuator Jacobian digs the dark zone 4.6e-07 → 1.9e-07, then a damped re-solve at each scored frame holds it: 1.91e-07 → 2.46e-07 closed, against 4.65e-07 → 1.72e-06 open.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honest line.</a:t>
            </a:r>
            <a:r>
              <a:rPr sz="1200" b="0">
                <a:solidFill>
                  <a:srgbClr val="282828"/>
                </a:solidFill>
                <a:latin typeface="Arial"/>
              </a:rPr>
              <a:t> Closed-loop pupil wavefront is larger than uncorrected — that is the DM stroke the contrast is bought with, and the figure labels it as such.</a:t>
            </a:r>
          </a:p>
        </p:txBody>
      </p:sp>
      <p:pic>
        <p:nvPicPr>
          <p:cNvPr id="5" name="Picture 4" descr="r4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277" y="1298448"/>
            <a:ext cx="4064004" cy="3903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22020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State, wavefront and contrast against time.  The contrast panel is the payoff: open loop degrades 3.7×; the closed loop holds.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this demonstrates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model, from surface figure to a held dark zone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 design becomes an instrument becomes an error budget becomes a controlled observatory</a:t>
            </a:r>
            <a:r>
              <a:rPr sz="1200" b="0">
                <a:solidFill>
                  <a:srgbClr val="282828"/>
                </a:solidFill>
                <a:latin typeface="Arial"/>
              </a:rPr>
              <a:t>, without leaving the model or re-entering the geometry anywhere.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gap penalty is measured, not assumed</a:t>
            </a:r>
            <a:r>
              <a:rPr sz="1200" b="0">
                <a:solidFill>
                  <a:srgbClr val="282828"/>
                </a:solidFill>
                <a:latin typeface="Arial"/>
              </a:rPr>
              <a:t> — 1298× open loop — and the control loop that answers it is measured too: 1.7e-06 open against 2.5e-07 closed at the end of the soak.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Every model-vs-engine comparison closes</a:t>
            </a:r>
            <a:r>
              <a:rPr sz="1200" b="0">
                <a:solidFill>
                  <a:srgbClr val="282828"/>
                </a:solidFill>
                <a:latin typeface="Arial"/>
              </a:rPr>
              <a:t> — worst 0.0035 across segments, DMs and relay optics — because the comparison is made at the surface the model lives on.  Where a build disagreed, the deck says why and what fixed it.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All of it is committed</a:t>
            </a:r>
            <a:r>
              <a:rPr sz="1200" b="0">
                <a:solidFill>
                  <a:srgbClr val="282828"/>
                </a:solidFill>
                <a:latin typeface="Arial"/>
              </a:rPr>
              <a:t>: prescriptions, runners, reports, and this deck's numbers are one git clone away.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 Slides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stop's edge, measured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Babinet split with 1e-15 closure: the edge interferes, it does not merely add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Method.</a:t>
            </a:r>
            <a:r>
              <a:rPr sz="1200" b="0">
                <a:solidFill>
                  <a:srgbClr val="282828"/>
                </a:solidFill>
                <a:latin typeface="Arial"/>
              </a:rPr>
              <a:t>  The circular stop applied as a SCREEN on the no-stop chain holds every mask and scale fixed, so E_rim = E_hex - E_screened is exactly the blocked rim's field.  Pins: screened bare peak == stopped bare peak to 0.0e0; both S1 records reproduced under 1%.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split (dark-zone mean energy):</a:t>
            </a:r>
            <a:r>
              <a:rPr sz="1200" b="0">
                <a:solidFill>
                  <a:srgbClr val="282828"/>
                </a:solidFill>
                <a:latin typeface="Arial"/>
              </a:rPr>
              <a:t> I_ns 1.09e-05 + rim 2.53e-06 + cross 6.54e-06 — the rim's own ring is ~28% of the increase; the cross term (coherent interference with the pre-existing gap speckle) is 2.6x larger.  Peak renormalization 1.178x; dark-zone energy up 1.83x at fixed masks; the lambda/D re-reference contributes 1.00x.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APLC flag, restated:</a:t>
            </a:r>
            <a:r>
              <a:rPr sz="1200" b="0">
                <a:solidFill>
                  <a:srgbClr val="282828"/>
                </a:solidFill>
                <a:latin typeface="Arial"/>
              </a:rPr>
              <a:t> the stopped aperture-matched prolate hit its iteration cap unconverged (the answer moves with the cap — not an eigenfunction, not a design); its row stands flagged, and the block/Lanczos eigensolver or the N'Diaye LP co-design are the named, deferred machines.</a:t>
            </a:r>
          </a:p>
        </p:txBody>
      </p:sp>
      <p:pic>
        <p:nvPicPr>
          <p:cNvPr id="5" name="Picture 4" descr="cf1c_stop_attr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517" y="1298448"/>
            <a:ext cx="4679524" cy="36113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928107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Where the stop's edge lands: no-stop, stop-as-screen, and the rim field alone.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round-1 disagreement, resolved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basis includes the evaluation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symptom.</a:t>
            </a:r>
            <a:r>
              <a:rPr sz="1200" b="0">
                <a:solidFill>
                  <a:srgbClr val="282828"/>
                </a:solidFill>
                <a:latin typeface="Arial"/>
              </a:rPr>
              <a:t> Engine and linear model disagreed by 1–55× on every segment freedom but piston, which agreed to 0.6%.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cause, measured.</a:t>
            </a:r>
            <a:r>
              <a:rPr sz="1200" b="0">
                <a:solidFill>
                  <a:srgbClr val="282828"/>
                </a:solidFill>
                <a:latin typeface="Arial"/>
              </a:rPr>
              <a:t> The check traced to the Science focal plane; the model lives at the coronagraph exit pupil.  At a focal plane a segment tilt is a footprint piston with lever = the segment's pupil radius — at that segment, 6.5× the tilt response, which is exactly the "mystery factor" the fingerprint carried.  Piston agreed because a normal displacement adds path uniformly at any surface.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Same element, same pokes, one changed trace target</a:t>
            </a:r>
            <a:r>
              <a:rPr sz="1200" b="0">
                <a:solidFill>
                  <a:srgbClr val="282828"/>
                </a:solidFill>
                <a:latin typeface="Arial"/>
              </a:rPr>
              <a:t> — the table.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fix is structural.</a:t>
            </a:r>
            <a:r>
              <a:rPr sz="1200" b="0">
                <a:solidFill>
                  <a:srgbClr val="282828"/>
                </a:solidFill>
                <a:latin typeface="Arial"/>
              </a:rPr>
              <a:t> The closure check is now a shared function that takes the evaluation surface from the harvest artifact, with a regression test that fails if a rotation ever closes at the wrong surface.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9" cy="184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115"/>
                <a:gridCol w="2697480"/>
                <a:gridCol w="2046364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freedom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rel. error at the focal plane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at the model's surface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56.9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3.34e-05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3.48e-05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NaN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0.00131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54.8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0.00131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Tz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0.00614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1.06e-05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28498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Segment 19, 1 nm / 1 nrad pokes against the stored sensitivity columns.  "NaN" rows are the segment-clocking null (response below the 1 pm floor).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Choosing a stable control law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Two mechanizations rejected by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 held one-shot correction</a:t>
            </a:r>
            <a:r>
              <a:rPr sz="1200" b="0">
                <a:solidFill>
                  <a:srgbClr val="282828"/>
                </a:solidFill>
                <a:latin typeface="Arial"/>
              </a:rPr>
              <a:t> (the round-1 idiom, with real sensor noise): at the solve frame the drift sits below the 1 nm edge noise, the estimate residual exceeds the state, and the corrected leg ends worse than the uncorrected one.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 per-frame loop on the estimator's segment slice</a:t>
            </a:r>
            <a:r>
              <a:rPr sz="1200" b="0">
                <a:solidFill>
                  <a:srgbClr val="282828"/>
                </a:solidFill>
                <a:latin typeface="Arial"/>
              </a:rPr>
              <a:t>: the full-body minimum-variance gain is contractive, its segment slice is not (spectral radius 1.154) — the engine loop diverged to 19 nm on a 3 nm drift, and a pure-linear simulation predicts the divergence to three digits.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Shipped: weighted least squares with ridge on the segment state</a:t>
            </a:r>
            <a:r>
              <a:rPr sz="1200" b="0">
                <a:solidFill>
                  <a:srgbClr val="282828"/>
                </a:solidFill>
                <a:latin typeface="Arial"/>
              </a:rPr>
              <a:t> (radius 0.9998, gain 0.5): converges to the 0.36 nm sensor-noise floor.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DM re-solve needed the same care.</a:t>
            </a:r>
            <a:r>
              <a:rPr sz="1200" b="0">
                <a:solidFill>
                  <a:srgbClr val="282828"/>
                </a:solidFill>
                <a:latin typeface="Arial"/>
              </a:rPr>
              <a:t> Undamped solves against gap speckle — amplitude-dominated, weakly controllable at this DM spacing — push stroke along near-null directions and diverge; damping (0.7) plus a small leak (0.02) makes the dig monotone and held.  DM spacing as an amplitude-authority knob is a stated design trade, not exercised 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Packaging the longer relay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Fold side is a stability choice, not a taste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near-normal fold turns the chief by 180° − 2·AOI, and the beam direction reverses at each mirror.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Alternating the fold side</a:t>
            </a:r>
            <a:r>
              <a:rPr sz="1200" b="0">
                <a:solidFill>
                  <a:srgbClr val="282828"/>
                </a:solidFill>
                <a:latin typeface="Arial"/>
              </a:rPr>
              <a:t> — fine for the five folds of the shorter round-1 relay — adds −2·AOI of net rotation per fold: over this chain's ten folds the accordion fans ~120° and walks to a 10.33 m shroud diameter.  Measured, with the element positions in the record.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Keeping the same side every fold</a:t>
            </a:r>
            <a:r>
              <a:rPr sz="1200" b="0">
                <a:solidFill>
                  <a:srgbClr val="282828"/>
                </a:solidFill>
                <a:latin typeface="Arial"/>
              </a:rPr>
              <a:t> ping-pongs the beam between two fixed directions and packs the chain into a leg-sized pocket: 7.451 m, identical to the primary-set envelope.  The DM-bearing back end costs nothing in shroud diameter.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Focal ratio: why f/25.4 and not f/12–20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corrected focal ratio is not a continuous function of the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surface-figure solve spends optical power, so the focal ratio must be read on the corrected system; a search on the tertiary radius lands in different solve basins and refuses to steer continuously (f/15.5 and f/25.7 at layouts 0.36% apart).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design point was chosen on wavefront</a:t>
            </a:r>
            <a:r>
              <a:rPr sz="1200" b="0">
                <a:solidFill>
                  <a:srgbClr val="282828"/>
                </a:solidFill>
                <a:latin typeface="Arial"/>
              </a:rPr>
              <a:t>, which it meets; the slower focal ratio also puts more λ/D on the focal-plane mask, easing its fabrication.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an apodizer alone does not buy back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round-1 negative result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Redesigning the apodizer for the segmented pupil — a linear-program optimum and an aperture-specific eigenfunction — recovered essentially nothing: the gaps scatter light no transmission profile removes.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optimizer's design model (a single Fourier transform) floors five times above what the engine already reaches, and the disagreement </a:t>
            </a:r>
            <a:r>
              <a:rPr sz="1200" b="1">
                <a:solidFill>
                  <a:srgbClr val="282828"/>
                </a:solidFill>
                <a:latin typeface="Arial"/>
              </a:rPr>
              <a:t>grows</a:t>
            </a:r>
            <a:r>
              <a:rPr sz="1200" b="0">
                <a:solidFill>
                  <a:srgbClr val="282828"/>
                </a:solidFill>
                <a:latin typeface="Arial"/>
              </a:rPr>
              <a:t> the harder the optimizer is pushed — the signature of an optimizer mining its model, worth reusing as a diagnostic anywhere a design model is cheaper than the simulator it feeds.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round-2 answer is the deformable mirrors: measured against the engine, they dig the segmented floor 4.6e-07 → 1.9e-07 and hold it under drift.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is not in this model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Stated, not omitted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coronagraph masks are clear-pupil designs.</a:t>
            </a:r>
            <a:r>
              <a:rPr sz="1200" b="0">
                <a:solidFill>
                  <a:srgbClr val="282828"/>
                </a:solidFill>
                <a:latin typeface="Arial"/>
              </a:rPr>
              <a:t>  Co-optimising apodizer, occulter and Lyot for the segmented aperture is known, separate work; the open-loop 1298× is the size of that prize.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Monochromatic, at 500 nm.</a:t>
            </a:r>
            <a:r>
              <a:rPr sz="1200" b="0">
                <a:solidFill>
                  <a:srgbClr val="282828"/>
                </a:solidFill>
                <a:latin typeface="Arial"/>
              </a:rPr>
              <a:t>  The bandwidth and polarization layers exist on the testbed substrate and are configuration away, not new machinery.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metrology measurement is simulated from its validated linear model</a:t>
            </a:r>
            <a:r>
              <a:rPr sz="1200" b="0">
                <a:solidFill>
                  <a:srgbClr val="282828"/>
                </a:solidFill>
                <a:latin typeface="Arial"/>
              </a:rPr>
              <a:t> plus noise, not a second engine trace of the truss; the engine holds the truss points rigid, so the model is the only figure source either way.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DM spacing</a:t>
            </a:r>
            <a:r>
              <a:rPr sz="1200" b="0">
                <a:solidFill>
                  <a:srgbClr val="282828"/>
                </a:solidFill>
                <a:latin typeface="Arial"/>
              </a:rPr>
              <a:t> (47 mm pupil, 0.15 m apart) limits amplitude-speckle authority; the testbed's wider spacing is the knob, and re-running the chain at another spacing is parameter work.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How to reproduce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number on these slides comes from these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Round 1 (frozen): s1_layout_search, s1_telescope, s2_segmentation — the telescope and the segmented primary.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r1_backend, r1_coro, r1_dm, r1_shroud_union — the DM-bearing train, the coronagraph on both apertures, the DM surfaces, the two-leg shroud.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r2_sequence_fig, r2_bench_fig, r2_masks_fig — the four exhibit graphics.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r3_sensitivities, r3_dm_jacobian, r3_met — the error budget, the actuator Jacobian, the metrology stage.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r4_timeseries — the closed-loop drift series.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python3 deck_e2e6m_r2.py — this deck, from the reports those runs wrote.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6499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All knobs live in one parameter file.  The narrative record — every question, decision and gate — is the campaign log beside the runners.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